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Saira ExtraCondensed Heavy" charset="1" panose="00000A08000000000000"/>
      <p:regular r:id="rId17"/>
    </p:embeddedFont>
    <p:embeddedFont>
      <p:font typeface="Saira ExtraCondensed Bold" charset="1" panose="00000808000000000000"/>
      <p:regular r:id="rId18"/>
    </p:embeddedFont>
    <p:embeddedFont>
      <p:font typeface="Montserrat" charset="1" panose="00000500000000000000"/>
      <p:regular r:id="rId19"/>
    </p:embeddedFont>
    <p:embeddedFont>
      <p:font typeface="Montserrat Italics" charset="1" panose="00000500000000000000"/>
      <p:regular r:id="rId20"/>
    </p:embeddedFont>
    <p:embeddedFont>
      <p:font typeface="Montserrat Medium" charset="1" panose="000006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https://docs.google.com/spreadsheets/d/1DUF2isFWsqVSYhbaACYtbgcLi_YjDqpE3GLQIVgkKQg/edit#gid=69851113" TargetMode="External" Type="http://schemas.openxmlformats.org/officeDocument/2006/relationships/hyperlink"/></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https://docs.google.com/spreadsheets/d/1DUF2isFWsqVSYhbaACYtbgcLi_YjDqpE3GLQIVgkKQg/edit#gid=69851113" TargetMode="External" Type="http://schemas.openxmlformats.org/officeDocument/2006/relationships/hyperlink"/><Relationship Id="rId4"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https://docs.google.com/spreadsheets/d/1DUF2isFWsqVSYhbaACYtbgcLi_YjDqpE3GLQIVgkKQg/edit#gid=69851113" TargetMode="External" Type="http://schemas.openxmlformats.org/officeDocument/2006/relationships/hyperlink"/><Relationship Id="rId3" Target="https://docs.google.com/spreadsheets/d/1DUF2isFWsqVSYhbaACYtbgcLi_YjDqpE3GLQIVgkKQg/edit#gid=69851113" TargetMode="External" Type="http://schemas.openxmlformats.org/officeDocument/2006/relationships/hyperlink"/><Relationship Id="rId4"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 Id="rId3" Target="https://docs.google.com/spreadsheets/d/1DUF2isFWsqVSYhbaACYtbgcLi_YjDqpE3GLQIVgkKQg/edit#gid=69851113" TargetMode="External" Type="http://schemas.openxmlformats.org/officeDocument/2006/relationships/hyperlink"/><Relationship Id="rId4"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https://docs.google.com/spreadsheets/d/1DUF2isFWsqVSYhbaACYtbgcLi_YjDqpE3GLQIVgkKQg/edit#gid=69851113" TargetMode="External" Type="http://schemas.openxmlformats.org/officeDocument/2006/relationships/hyperlink"/><Relationship Id="rId3"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https://docs.google.com/spreadsheets/d/1DUF2isFWsqVSYhbaACYtbgcLi_YjDqpE3GLQIVgkKQg/edit#gid=69851113" TargetMode="External" Type="http://schemas.openxmlformats.org/officeDocument/2006/relationships/hyperlink"/><Relationship Id="rId4"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https://docs.google.com/spreadsheets/d/1DUF2isFWsqVSYhbaACYtbgcLi_YjDqpE3GLQIVgkKQg/edit#gid=69851113" TargetMode="External" Type="http://schemas.openxmlformats.org/officeDocument/2006/relationships/hyperlink"/><Relationship Id="rId4" Target="https://docs.google.com/spreadsheets/d/1DUF2isFWsqVSYhbaACYtbgcLi_YjDqpE3GLQIVgkKQg/edit#gid=69851113" TargetMode="External" Type="http://schemas.openxmlformats.org/officeDocument/2006/relationships/hyperlink"/><Relationship Id="rId5" Target="https://docs.google.com/spreadsheets/d/1DUF2isFWsqVSYhbaACYtbgcLi_YjDqpE3GLQIVgkKQg/edit#gid=69851113" TargetMode="External" Type="http://schemas.openxmlformats.org/officeDocument/2006/relationships/hyperlink"/><Relationship Id="rId6"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jpeg" Type="http://schemas.openxmlformats.org/officeDocument/2006/relationships/image"/><Relationship Id="rId3" Target="../media/image14.jpeg" Type="http://schemas.openxmlformats.org/officeDocument/2006/relationships/image"/><Relationship Id="rId4" Target="../media/image15.jpeg" Type="http://schemas.openxmlformats.org/officeDocument/2006/relationships/image"/><Relationship Id="rId5" Target="https://docs.google.com/spreadsheets/d/1DUF2isFWsqVSYhbaACYtbgcLi_YjDqpE3GLQIVgkKQg/edit#gid=69851113" TargetMode="External" Type="http://schemas.openxmlformats.org/officeDocument/2006/relationships/hyperlink"/><Relationship Id="rId6"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https://docs.google.com/spreadsheets/d/1DUF2isFWsqVSYhbaACYtbgcLi_YjDqpE3GLQIVgkKQg/edit#gid=69851113" TargetMode="External" Type="http://schemas.openxmlformats.org/officeDocument/2006/relationships/hyperlink"/><Relationship Id="rId3" Target="https://docs.google.com/spreadsheets/d/1DUF2isFWsqVSYhbaACYtbgcLi_YjDqpE3GLQIVgkKQg/edit#gid=69851113" TargetMode="External" Type="http://schemas.openxmlformats.org/officeDocument/2006/relationships/hyperlink"/><Relationship Id="rId4" Target="https://docs.google.com/spreadsheets/d/1DUF2isFWsqVSYhbaACYtbgcLi_YjDqpE3GLQIVgkKQg/edit#gid=69851113" TargetMode="External" Type="http://schemas.openxmlformats.org/officeDocument/2006/relationships/hyperlink"/><Relationship Id="rId5"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 Id="rId3" Target="https://docs.google.com/spreadsheets/d/1DUF2isFWsqVSYhbaACYtbgcLi_YjDqpE3GLQIVgkKQg/edit#gid=69851113" TargetMode="External" Type="http://schemas.openxmlformats.org/officeDocument/2006/relationships/hyperlink"/><Relationship Id="rId4"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 Id="rId3" Target="../media/image18.jpeg" Type="http://schemas.openxmlformats.org/officeDocument/2006/relationships/image"/><Relationship Id="rId4" Target="../media/image19.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C22B23"/>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4961466" y="2790825"/>
            <a:ext cx="13326534" cy="7496175"/>
            <a:chOff x="0" y="0"/>
            <a:chExt cx="6085989" cy="3423369"/>
          </a:xfrm>
        </p:grpSpPr>
        <p:sp>
          <p:nvSpPr>
            <p:cNvPr name="Freeform 3" id="3"/>
            <p:cNvSpPr/>
            <p:nvPr/>
          </p:nvSpPr>
          <p:spPr>
            <a:xfrm flipH="false" flipV="false" rot="0">
              <a:off x="0" y="0"/>
              <a:ext cx="6085989" cy="3423369"/>
            </a:xfrm>
            <a:custGeom>
              <a:avLst/>
              <a:gdLst/>
              <a:ahLst/>
              <a:cxnLst/>
              <a:rect r="r" b="b" t="t" l="l"/>
              <a:pathLst>
                <a:path h="3423369" w="6085989">
                  <a:moveTo>
                    <a:pt x="6085989" y="0"/>
                  </a:moveTo>
                  <a:lnTo>
                    <a:pt x="6085989" y="3423369"/>
                  </a:lnTo>
                  <a:lnTo>
                    <a:pt x="0" y="3423369"/>
                  </a:lnTo>
                  <a:cubicBezTo>
                    <a:pt x="675624" y="3043331"/>
                    <a:pt x="1351247" y="2663292"/>
                    <a:pt x="2026871" y="2283254"/>
                  </a:cubicBezTo>
                  <a:lnTo>
                    <a:pt x="2097920" y="2409489"/>
                  </a:lnTo>
                  <a:lnTo>
                    <a:pt x="2796991" y="2016033"/>
                  </a:lnTo>
                  <a:lnTo>
                    <a:pt x="2871403" y="2148242"/>
                  </a:lnTo>
                  <a:lnTo>
                    <a:pt x="2594865" y="2303885"/>
                  </a:lnTo>
                  <a:lnTo>
                    <a:pt x="2670764" y="2438738"/>
                  </a:lnTo>
                  <a:lnTo>
                    <a:pt x="3229438" y="2124301"/>
                  </a:lnTo>
                  <a:lnTo>
                    <a:pt x="3304722" y="2258060"/>
                  </a:lnTo>
                  <a:lnTo>
                    <a:pt x="4421055" y="1629757"/>
                  </a:lnTo>
                  <a:lnTo>
                    <a:pt x="4345156" y="1494904"/>
                  </a:lnTo>
                  <a:lnTo>
                    <a:pt x="3786482" y="1809341"/>
                  </a:lnTo>
                  <a:lnTo>
                    <a:pt x="3712506" y="1677904"/>
                  </a:lnTo>
                  <a:lnTo>
                    <a:pt x="4530258" y="1217651"/>
                  </a:lnTo>
                  <a:lnTo>
                    <a:pt x="4454359" y="1082798"/>
                  </a:lnTo>
                  <a:lnTo>
                    <a:pt x="4074887" y="1296375"/>
                  </a:lnTo>
                  <a:lnTo>
                    <a:pt x="4045945" y="1246246"/>
                  </a:lnTo>
                  <a:lnTo>
                    <a:pt x="4003743" y="1171263"/>
                  </a:lnTo>
                  <a:cubicBezTo>
                    <a:pt x="4697825" y="780842"/>
                    <a:pt x="5391907" y="390421"/>
                    <a:pt x="6085989" y="0"/>
                  </a:cubicBezTo>
                  <a:close/>
                </a:path>
              </a:pathLst>
            </a:custGeom>
            <a:solidFill>
              <a:srgbClr val="C22B23"/>
            </a:solidFill>
          </p:spPr>
        </p:sp>
        <p:sp>
          <p:nvSpPr>
            <p:cNvPr name="Freeform 4" id="4"/>
            <p:cNvSpPr/>
            <p:nvPr/>
          </p:nvSpPr>
          <p:spPr>
            <a:xfrm flipH="false" flipV="false" rot="0">
              <a:off x="0" y="0"/>
              <a:ext cx="6085989" cy="3423369"/>
            </a:xfrm>
            <a:custGeom>
              <a:avLst/>
              <a:gdLst/>
              <a:ahLst/>
              <a:cxnLst/>
              <a:rect r="r" b="b" t="t" l="l"/>
              <a:pathLst>
                <a:path h="3423369" w="6085989">
                  <a:moveTo>
                    <a:pt x="6085989" y="0"/>
                  </a:moveTo>
                  <a:lnTo>
                    <a:pt x="6085989" y="3423369"/>
                  </a:lnTo>
                  <a:lnTo>
                    <a:pt x="0" y="3423369"/>
                  </a:lnTo>
                  <a:cubicBezTo>
                    <a:pt x="675624" y="3043331"/>
                    <a:pt x="1351247" y="2663292"/>
                    <a:pt x="2026871" y="2283254"/>
                  </a:cubicBezTo>
                  <a:lnTo>
                    <a:pt x="2097920" y="2409489"/>
                  </a:lnTo>
                  <a:lnTo>
                    <a:pt x="2796991" y="2016033"/>
                  </a:lnTo>
                  <a:lnTo>
                    <a:pt x="2871403" y="2148242"/>
                  </a:lnTo>
                  <a:lnTo>
                    <a:pt x="2594865" y="2303885"/>
                  </a:lnTo>
                  <a:lnTo>
                    <a:pt x="2670764" y="2438738"/>
                  </a:lnTo>
                  <a:lnTo>
                    <a:pt x="3229438" y="2124301"/>
                  </a:lnTo>
                  <a:lnTo>
                    <a:pt x="3304722" y="2258060"/>
                  </a:lnTo>
                  <a:lnTo>
                    <a:pt x="4421055" y="1629757"/>
                  </a:lnTo>
                  <a:lnTo>
                    <a:pt x="4345156" y="1494904"/>
                  </a:lnTo>
                  <a:lnTo>
                    <a:pt x="3786482" y="1809341"/>
                  </a:lnTo>
                  <a:lnTo>
                    <a:pt x="3712506" y="1677904"/>
                  </a:lnTo>
                  <a:lnTo>
                    <a:pt x="4530258" y="1217651"/>
                  </a:lnTo>
                  <a:lnTo>
                    <a:pt x="4454359" y="1082798"/>
                  </a:lnTo>
                  <a:lnTo>
                    <a:pt x="4074887" y="1296375"/>
                  </a:lnTo>
                  <a:lnTo>
                    <a:pt x="4045945" y="1246246"/>
                  </a:lnTo>
                  <a:lnTo>
                    <a:pt x="4003743" y="1171263"/>
                  </a:lnTo>
                  <a:cubicBezTo>
                    <a:pt x="4697825" y="780842"/>
                    <a:pt x="5391907" y="390421"/>
                    <a:pt x="6085989" y="0"/>
                  </a:cubicBezTo>
                  <a:close/>
                </a:path>
              </a:pathLst>
            </a:custGeom>
            <a:blipFill>
              <a:blip r:embed="rId2"/>
              <a:stretch>
                <a:fillRect l="0" t="-14932" r="-36673" b="-22044"/>
              </a:stretch>
            </a:blipFill>
          </p:spPr>
        </p:sp>
      </p:grpSp>
      <p:grpSp>
        <p:nvGrpSpPr>
          <p:cNvPr name="Group 5" id="5"/>
          <p:cNvGrpSpPr/>
          <p:nvPr/>
        </p:nvGrpSpPr>
        <p:grpSpPr>
          <a:xfrm rot="0">
            <a:off x="1028700" y="6374372"/>
            <a:ext cx="705840" cy="705840"/>
            <a:chOff x="0" y="0"/>
            <a:chExt cx="941120" cy="941120"/>
          </a:xfrm>
        </p:grpSpPr>
        <p:grpSp>
          <p:nvGrpSpPr>
            <p:cNvPr name="Group 6" id="6"/>
            <p:cNvGrpSpPr/>
            <p:nvPr/>
          </p:nvGrpSpPr>
          <p:grpSpPr>
            <a:xfrm rot="0">
              <a:off x="0" y="0"/>
              <a:ext cx="941120" cy="941120"/>
              <a:chOff x="0" y="0"/>
              <a:chExt cx="6350000" cy="6350000"/>
            </a:xfrm>
          </p:grpSpPr>
          <p:sp>
            <p:nvSpPr>
              <p:cNvPr name="Freeform 7" id="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E1D1D"/>
              </a:solidFill>
            </p:spPr>
          </p:sp>
        </p:grpSp>
        <p:sp>
          <p:nvSpPr>
            <p:cNvPr name="Freeform 8" id="8"/>
            <p:cNvSpPr/>
            <p:nvPr/>
          </p:nvSpPr>
          <p:spPr>
            <a:xfrm flipH="false" flipV="false" rot="0">
              <a:off x="338138" y="234092"/>
              <a:ext cx="264844" cy="472936"/>
            </a:xfrm>
            <a:custGeom>
              <a:avLst/>
              <a:gdLst/>
              <a:ahLst/>
              <a:cxnLst/>
              <a:rect r="r" b="b" t="t" l="l"/>
              <a:pathLst>
                <a:path h="472936" w="264844">
                  <a:moveTo>
                    <a:pt x="0" y="0"/>
                  </a:moveTo>
                  <a:lnTo>
                    <a:pt x="264844" y="0"/>
                  </a:lnTo>
                  <a:lnTo>
                    <a:pt x="264844" y="472936"/>
                  </a:lnTo>
                  <a:lnTo>
                    <a:pt x="0" y="4729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grpSp>
        <p:nvGrpSpPr>
          <p:cNvPr name="Group 9" id="9"/>
          <p:cNvGrpSpPr/>
          <p:nvPr/>
        </p:nvGrpSpPr>
        <p:grpSpPr>
          <a:xfrm rot="0">
            <a:off x="1028700" y="8552460"/>
            <a:ext cx="705840" cy="705840"/>
            <a:chOff x="0" y="0"/>
            <a:chExt cx="941120" cy="941120"/>
          </a:xfrm>
        </p:grpSpPr>
        <p:grpSp>
          <p:nvGrpSpPr>
            <p:cNvPr name="Group 10" id="10"/>
            <p:cNvGrpSpPr/>
            <p:nvPr/>
          </p:nvGrpSpPr>
          <p:grpSpPr>
            <a:xfrm rot="0">
              <a:off x="0" y="0"/>
              <a:ext cx="941120" cy="941120"/>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E1D1D"/>
              </a:solidFill>
            </p:spPr>
          </p:sp>
        </p:grpSp>
        <p:sp>
          <p:nvSpPr>
            <p:cNvPr name="Freeform 12" id="12"/>
            <p:cNvSpPr/>
            <p:nvPr/>
          </p:nvSpPr>
          <p:spPr>
            <a:xfrm flipH="false" flipV="false" rot="0">
              <a:off x="312883" y="254294"/>
              <a:ext cx="315355" cy="432532"/>
            </a:xfrm>
            <a:custGeom>
              <a:avLst/>
              <a:gdLst/>
              <a:ahLst/>
              <a:cxnLst/>
              <a:rect r="r" b="b" t="t" l="l"/>
              <a:pathLst>
                <a:path h="432532" w="315355">
                  <a:moveTo>
                    <a:pt x="0" y="0"/>
                  </a:moveTo>
                  <a:lnTo>
                    <a:pt x="315355" y="0"/>
                  </a:lnTo>
                  <a:lnTo>
                    <a:pt x="315355" y="432532"/>
                  </a:lnTo>
                  <a:lnTo>
                    <a:pt x="0" y="43253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13" id="13"/>
          <p:cNvGrpSpPr/>
          <p:nvPr/>
        </p:nvGrpSpPr>
        <p:grpSpPr>
          <a:xfrm rot="0">
            <a:off x="1028700" y="7454208"/>
            <a:ext cx="705840" cy="705840"/>
            <a:chOff x="0" y="0"/>
            <a:chExt cx="941120" cy="941120"/>
          </a:xfrm>
        </p:grpSpPr>
        <p:grpSp>
          <p:nvGrpSpPr>
            <p:cNvPr name="Group 14" id="14"/>
            <p:cNvGrpSpPr/>
            <p:nvPr/>
          </p:nvGrpSpPr>
          <p:grpSpPr>
            <a:xfrm rot="0">
              <a:off x="0" y="0"/>
              <a:ext cx="941120" cy="941120"/>
              <a:chOff x="0" y="0"/>
              <a:chExt cx="6350000" cy="6350000"/>
            </a:xfrm>
          </p:grpSpPr>
          <p:sp>
            <p:nvSpPr>
              <p:cNvPr name="Freeform 15" id="1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E1D1D"/>
              </a:solidFill>
            </p:spPr>
          </p:sp>
        </p:grpSp>
        <p:sp>
          <p:nvSpPr>
            <p:cNvPr name="Freeform 16" id="16"/>
            <p:cNvSpPr/>
            <p:nvPr/>
          </p:nvSpPr>
          <p:spPr>
            <a:xfrm flipH="false" flipV="false" rot="0">
              <a:off x="260051" y="308659"/>
              <a:ext cx="421019" cy="323802"/>
            </a:xfrm>
            <a:custGeom>
              <a:avLst/>
              <a:gdLst/>
              <a:ahLst/>
              <a:cxnLst/>
              <a:rect r="r" b="b" t="t" l="l"/>
              <a:pathLst>
                <a:path h="323802" w="421019">
                  <a:moveTo>
                    <a:pt x="0" y="0"/>
                  </a:moveTo>
                  <a:lnTo>
                    <a:pt x="421019" y="0"/>
                  </a:lnTo>
                  <a:lnTo>
                    <a:pt x="421019" y="323802"/>
                  </a:lnTo>
                  <a:lnTo>
                    <a:pt x="0" y="32380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sp>
        <p:nvSpPr>
          <p:cNvPr name="TextBox 17" id="17"/>
          <p:cNvSpPr txBox="true"/>
          <p:nvPr/>
        </p:nvSpPr>
        <p:spPr>
          <a:xfrm rot="0">
            <a:off x="1028700" y="1104900"/>
            <a:ext cx="11110370" cy="3186874"/>
          </a:xfrm>
          <a:prstGeom prst="rect">
            <a:avLst/>
          </a:prstGeom>
        </p:spPr>
        <p:txBody>
          <a:bodyPr anchor="t" rtlCol="false" tIns="0" lIns="0" bIns="0" rIns="0">
            <a:spAutoFit/>
          </a:bodyPr>
          <a:lstStyle/>
          <a:p>
            <a:pPr algn="l">
              <a:lnSpc>
                <a:spcPts val="12404"/>
              </a:lnSpc>
            </a:pPr>
            <a:r>
              <a:rPr lang="en-US" sz="11075" b="true">
                <a:solidFill>
                  <a:srgbClr val="FAFAFA"/>
                </a:solidFill>
                <a:latin typeface="Saira ExtraCondensed Heavy"/>
                <a:ea typeface="Saira ExtraCondensed Heavy"/>
                <a:cs typeface="Saira ExtraCondensed Heavy"/>
                <a:sym typeface="Saira ExtraCondensed Heavy"/>
              </a:rPr>
              <a:t>Bản quảng cáo chiêu hàng</a:t>
            </a:r>
          </a:p>
          <a:p>
            <a:pPr algn="l">
              <a:lnSpc>
                <a:spcPts val="12404"/>
              </a:lnSpc>
            </a:pPr>
            <a:r>
              <a:rPr lang="en-US" sz="11075" b="true">
                <a:solidFill>
                  <a:srgbClr val="FAFAFA"/>
                </a:solidFill>
                <a:latin typeface="Saira ExtraCondensed Heavy"/>
                <a:ea typeface="Saira ExtraCondensed Heavy"/>
                <a:cs typeface="Saira ExtraCondensed Heavy"/>
                <a:sym typeface="Saira ExtraCondensed Heavy"/>
              </a:rPr>
              <a:t>về trò chơi Sitwell</a:t>
            </a:r>
          </a:p>
        </p:txBody>
      </p:sp>
      <p:grpSp>
        <p:nvGrpSpPr>
          <p:cNvPr name="Group 18" id="18"/>
          <p:cNvGrpSpPr/>
          <p:nvPr/>
        </p:nvGrpSpPr>
        <p:grpSpPr>
          <a:xfrm rot="0">
            <a:off x="12307159" y="1315759"/>
            <a:ext cx="5120230" cy="1107440"/>
            <a:chOff x="0" y="0"/>
            <a:chExt cx="6826974" cy="1476586"/>
          </a:xfrm>
        </p:grpSpPr>
        <p:sp>
          <p:nvSpPr>
            <p:cNvPr name="TextBox 19" id="19"/>
            <p:cNvSpPr txBox="true"/>
            <p:nvPr/>
          </p:nvSpPr>
          <p:spPr>
            <a:xfrm rot="0">
              <a:off x="0" y="-38100"/>
              <a:ext cx="6826974" cy="952500"/>
            </a:xfrm>
            <a:prstGeom prst="rect">
              <a:avLst/>
            </a:prstGeom>
          </p:spPr>
          <p:txBody>
            <a:bodyPr anchor="t" rtlCol="false" tIns="0" lIns="0" bIns="0" rIns="0">
              <a:spAutoFit/>
            </a:bodyPr>
            <a:lstStyle/>
            <a:p>
              <a:pPr algn="r">
                <a:lnSpc>
                  <a:spcPts val="5850"/>
                </a:lnSpc>
              </a:pPr>
              <a:r>
                <a:rPr lang="en-US" b="true" sz="4500">
                  <a:solidFill>
                    <a:srgbClr val="FAFAFA"/>
                  </a:solidFill>
                  <a:latin typeface="Saira ExtraCondensed Bold"/>
                  <a:ea typeface="Saira ExtraCondensed Bold"/>
                  <a:cs typeface="Saira ExtraCondensed Bold"/>
                  <a:sym typeface="Saira ExtraCondensed Bold"/>
                </a:rPr>
                <a:t>Trịnh Văn Phúc</a:t>
              </a:r>
            </a:p>
          </p:txBody>
        </p:sp>
        <p:sp>
          <p:nvSpPr>
            <p:cNvPr name="TextBox 20" id="20"/>
            <p:cNvSpPr txBox="true"/>
            <p:nvPr/>
          </p:nvSpPr>
          <p:spPr>
            <a:xfrm rot="0">
              <a:off x="775363" y="895350"/>
              <a:ext cx="6051611" cy="588010"/>
            </a:xfrm>
            <a:prstGeom prst="rect">
              <a:avLst/>
            </a:prstGeom>
          </p:spPr>
          <p:txBody>
            <a:bodyPr anchor="t" rtlCol="false" tIns="0" lIns="0" bIns="0" rIns="0">
              <a:spAutoFit/>
            </a:bodyPr>
            <a:lstStyle/>
            <a:p>
              <a:pPr algn="r">
                <a:lnSpc>
                  <a:spcPts val="3640"/>
                </a:lnSpc>
                <a:spcBef>
                  <a:spcPct val="0"/>
                </a:spcBef>
              </a:pPr>
              <a:r>
                <a:rPr lang="en-US" sz="2800">
                  <a:solidFill>
                    <a:srgbClr val="FAFAFA"/>
                  </a:solidFill>
                  <a:latin typeface="Montserrat"/>
                  <a:ea typeface="Montserrat"/>
                  <a:cs typeface="Montserrat"/>
                  <a:sym typeface="Montserrat"/>
                </a:rPr>
                <a:t>Giám đốc điều hành</a:t>
              </a:r>
            </a:p>
          </p:txBody>
        </p:sp>
      </p:grpSp>
      <p:sp>
        <p:nvSpPr>
          <p:cNvPr name="TextBox 21" id="21"/>
          <p:cNvSpPr txBox="true"/>
          <p:nvPr/>
        </p:nvSpPr>
        <p:spPr>
          <a:xfrm rot="0">
            <a:off x="2171700" y="7589959"/>
            <a:ext cx="4977122" cy="415290"/>
          </a:xfrm>
          <a:prstGeom prst="rect">
            <a:avLst/>
          </a:prstGeom>
        </p:spPr>
        <p:txBody>
          <a:bodyPr anchor="t" rtlCol="false" tIns="0" lIns="0" bIns="0" rIns="0">
            <a:spAutoFit/>
          </a:bodyPr>
          <a:lstStyle/>
          <a:p>
            <a:pPr algn="l" marL="0" indent="0" lvl="0">
              <a:lnSpc>
                <a:spcPts val="3380"/>
              </a:lnSpc>
              <a:spcBef>
                <a:spcPct val="0"/>
              </a:spcBef>
            </a:pPr>
            <a:r>
              <a:rPr lang="en-US" sz="2600" u="none">
                <a:solidFill>
                  <a:srgbClr val="FAFAFA"/>
                </a:solidFill>
                <a:latin typeface="Montserrat"/>
                <a:ea typeface="Montserrat"/>
                <a:cs typeface="Montserrat"/>
                <a:sym typeface="Montserrat"/>
              </a:rPr>
              <a:t>xinchao@trangwebhay.vn</a:t>
            </a:r>
          </a:p>
        </p:txBody>
      </p:sp>
      <p:sp>
        <p:nvSpPr>
          <p:cNvPr name="TextBox 22" id="22"/>
          <p:cNvSpPr txBox="true"/>
          <p:nvPr/>
        </p:nvSpPr>
        <p:spPr>
          <a:xfrm rot="0">
            <a:off x="2171700" y="6492977"/>
            <a:ext cx="4977122" cy="449580"/>
          </a:xfrm>
          <a:prstGeom prst="rect">
            <a:avLst/>
          </a:prstGeom>
        </p:spPr>
        <p:txBody>
          <a:bodyPr anchor="t" rtlCol="false" tIns="0" lIns="0" bIns="0" rIns="0">
            <a:spAutoFit/>
          </a:bodyPr>
          <a:lstStyle/>
          <a:p>
            <a:pPr algn="l" marL="0" indent="0" lvl="0">
              <a:lnSpc>
                <a:spcPts val="3672"/>
              </a:lnSpc>
              <a:spcBef>
                <a:spcPct val="0"/>
              </a:spcBef>
            </a:pPr>
            <a:r>
              <a:rPr lang="en-US" sz="2825" u="none">
                <a:solidFill>
                  <a:srgbClr val="FAFAFA"/>
                </a:solidFill>
                <a:latin typeface="Montserrat"/>
                <a:ea typeface="Montserrat"/>
                <a:cs typeface="Montserrat"/>
                <a:sym typeface="Montserrat"/>
              </a:rPr>
              <a:t>123 Kim Mã Ba Đình, Hà Nội</a:t>
            </a:r>
          </a:p>
        </p:txBody>
      </p:sp>
      <p:sp>
        <p:nvSpPr>
          <p:cNvPr name="TextBox 23" id="23"/>
          <p:cNvSpPr txBox="true"/>
          <p:nvPr/>
        </p:nvSpPr>
        <p:spPr>
          <a:xfrm rot="0">
            <a:off x="2171700" y="8688210"/>
            <a:ext cx="4977122" cy="415290"/>
          </a:xfrm>
          <a:prstGeom prst="rect">
            <a:avLst/>
          </a:prstGeom>
        </p:spPr>
        <p:txBody>
          <a:bodyPr anchor="t" rtlCol="false" tIns="0" lIns="0" bIns="0" rIns="0">
            <a:spAutoFit/>
          </a:bodyPr>
          <a:lstStyle/>
          <a:p>
            <a:pPr algn="l" marL="0" indent="0" lvl="0">
              <a:lnSpc>
                <a:spcPts val="3380"/>
              </a:lnSpc>
              <a:spcBef>
                <a:spcPct val="0"/>
              </a:spcBef>
            </a:pPr>
            <a:r>
              <a:rPr lang="en-US" sz="2600" u="none">
                <a:solidFill>
                  <a:srgbClr val="FAFAFA"/>
                </a:solidFill>
                <a:latin typeface="Montserrat"/>
                <a:ea typeface="Montserrat"/>
                <a:cs typeface="Montserrat"/>
                <a:sym typeface="Montserrat"/>
              </a:rPr>
              <a:t>0912 3456 7890</a:t>
            </a:r>
          </a:p>
        </p:txBody>
      </p:sp>
      <p:grpSp>
        <p:nvGrpSpPr>
          <p:cNvPr name="Group 24" id="24"/>
          <p:cNvGrpSpPr/>
          <p:nvPr/>
        </p:nvGrpSpPr>
        <p:grpSpPr>
          <a:xfrm rot="0">
            <a:off x="11624733" y="4552950"/>
            <a:ext cx="6006097" cy="1638889"/>
            <a:chOff x="0" y="0"/>
            <a:chExt cx="8008129" cy="2185186"/>
          </a:xfrm>
        </p:grpSpPr>
        <p:grpSp>
          <p:nvGrpSpPr>
            <p:cNvPr name="Group 25" id="25"/>
            <p:cNvGrpSpPr/>
            <p:nvPr/>
          </p:nvGrpSpPr>
          <p:grpSpPr>
            <a:xfrm rot="0">
              <a:off x="0" y="0"/>
              <a:ext cx="8008129" cy="2185186"/>
              <a:chOff x="0" y="0"/>
              <a:chExt cx="3918051" cy="1073421"/>
            </a:xfrm>
          </p:grpSpPr>
          <p:sp>
            <p:nvSpPr>
              <p:cNvPr name="Freeform 26" id="26"/>
              <p:cNvSpPr/>
              <p:nvPr/>
            </p:nvSpPr>
            <p:spPr>
              <a:xfrm flipH="false" flipV="false" rot="0">
                <a:off x="0" y="0"/>
                <a:ext cx="3918051" cy="1073421"/>
              </a:xfrm>
              <a:custGeom>
                <a:avLst/>
                <a:gdLst/>
                <a:ahLst/>
                <a:cxnLst/>
                <a:rect r="r" b="b" t="t" l="l"/>
                <a:pathLst>
                  <a:path h="1073421" w="3918051">
                    <a:moveTo>
                      <a:pt x="3793591" y="1073421"/>
                    </a:moveTo>
                    <a:lnTo>
                      <a:pt x="124460" y="1073421"/>
                    </a:lnTo>
                    <a:cubicBezTo>
                      <a:pt x="55880" y="1073421"/>
                      <a:pt x="0" y="1017541"/>
                      <a:pt x="0" y="948961"/>
                    </a:cubicBezTo>
                    <a:lnTo>
                      <a:pt x="0" y="124460"/>
                    </a:lnTo>
                    <a:cubicBezTo>
                      <a:pt x="0" y="55880"/>
                      <a:pt x="55880" y="0"/>
                      <a:pt x="124460" y="0"/>
                    </a:cubicBezTo>
                    <a:lnTo>
                      <a:pt x="3793591" y="0"/>
                    </a:lnTo>
                    <a:cubicBezTo>
                      <a:pt x="3862171" y="0"/>
                      <a:pt x="3918051" y="55880"/>
                      <a:pt x="3918051" y="124460"/>
                    </a:cubicBezTo>
                    <a:lnTo>
                      <a:pt x="3918051" y="948961"/>
                    </a:lnTo>
                    <a:cubicBezTo>
                      <a:pt x="3918051" y="1017541"/>
                      <a:pt x="3862171" y="1073421"/>
                      <a:pt x="3793591" y="1073421"/>
                    </a:cubicBezTo>
                    <a:close/>
                  </a:path>
                </a:pathLst>
              </a:custGeom>
              <a:solidFill>
                <a:srgbClr val="FAFAFA"/>
              </a:solidFill>
            </p:spPr>
          </p:sp>
        </p:grpSp>
        <p:sp>
          <p:nvSpPr>
            <p:cNvPr name="TextBox 27" id="27"/>
            <p:cNvSpPr txBox="true"/>
            <p:nvPr/>
          </p:nvSpPr>
          <p:spPr>
            <a:xfrm rot="0">
              <a:off x="1714935" y="1315251"/>
              <a:ext cx="5789436" cy="307340"/>
            </a:xfrm>
            <a:prstGeom prst="rect">
              <a:avLst/>
            </a:prstGeom>
          </p:spPr>
          <p:txBody>
            <a:bodyPr anchor="t" rtlCol="false" tIns="0" lIns="0" bIns="0" rIns="0">
              <a:spAutoFit/>
            </a:bodyPr>
            <a:lstStyle/>
            <a:p>
              <a:pPr algn="l">
                <a:lnSpc>
                  <a:spcPts val="1987"/>
                </a:lnSpc>
                <a:spcBef>
                  <a:spcPct val="0"/>
                </a:spcBef>
              </a:pPr>
              <a:r>
                <a:rPr lang="en-US" sz="1325" i="true">
                  <a:solidFill>
                    <a:srgbClr val="C22B23"/>
                  </a:solidFill>
                  <a:latin typeface="Montserrat Italics"/>
                  <a:ea typeface="Montserrat Italics"/>
                  <a:cs typeface="Montserrat Italics"/>
                  <a:sym typeface="Montserrat Italics"/>
                </a:rPr>
                <a:t>Vui lòng xóa ghi chú sau khi chỉnh sửa trang này.</a:t>
              </a:r>
            </a:p>
          </p:txBody>
        </p:sp>
        <p:sp>
          <p:nvSpPr>
            <p:cNvPr name="TextBox 28" id="28"/>
            <p:cNvSpPr txBox="true"/>
            <p:nvPr/>
          </p:nvSpPr>
          <p:spPr>
            <a:xfrm rot="0">
              <a:off x="1714935" y="509255"/>
              <a:ext cx="5797821" cy="643890"/>
            </a:xfrm>
            <a:prstGeom prst="rect">
              <a:avLst/>
            </a:prstGeom>
          </p:spPr>
          <p:txBody>
            <a:bodyPr anchor="t" rtlCol="false" tIns="0" lIns="0" bIns="0" rIns="0">
              <a:spAutoFit/>
            </a:bodyPr>
            <a:lstStyle/>
            <a:p>
              <a:pPr algn="l" marL="0" indent="0" lvl="0">
                <a:lnSpc>
                  <a:spcPts val="1987"/>
                </a:lnSpc>
                <a:spcBef>
                  <a:spcPct val="0"/>
                </a:spcBef>
              </a:pPr>
              <a:r>
                <a:rPr lang="en-US" sz="1325" u="none">
                  <a:solidFill>
                    <a:srgbClr val="1E1D1D"/>
                  </a:solidFill>
                  <a:latin typeface="Montserrat"/>
                  <a:ea typeface="Montserrat"/>
                  <a:cs typeface="Montserrat"/>
                  <a:sym typeface="Montserrat"/>
                  <a:hlinkClick r:id="rId9" tooltip="https://docs.google.com/spreadsheets/d/1DUF2isFWsqVSYhbaACYtbgcLi_YjDqpE3GLQIVgkKQg/edit#gid=69851113"/>
                </a:rPr>
                <a:t>Cung cấp tên công ty cùng với tên và chức danh, địa chỉ, email và số điện thoại di động của bạn.</a:t>
              </a:r>
            </a:p>
          </p:txBody>
        </p:sp>
        <p:sp>
          <p:nvSpPr>
            <p:cNvPr name="Freeform 29" id="29"/>
            <p:cNvSpPr/>
            <p:nvPr/>
          </p:nvSpPr>
          <p:spPr>
            <a:xfrm flipH="false" flipV="false" rot="0">
              <a:off x="535944" y="692906"/>
              <a:ext cx="747914" cy="799374"/>
            </a:xfrm>
            <a:custGeom>
              <a:avLst/>
              <a:gdLst/>
              <a:ahLst/>
              <a:cxnLst/>
              <a:rect r="r" b="b" t="t" l="l"/>
              <a:pathLst>
                <a:path h="799374" w="747914">
                  <a:moveTo>
                    <a:pt x="0" y="0"/>
                  </a:moveTo>
                  <a:lnTo>
                    <a:pt x="747914" y="0"/>
                  </a:lnTo>
                  <a:lnTo>
                    <a:pt x="747914" y="799374"/>
                  </a:lnTo>
                  <a:lnTo>
                    <a:pt x="0" y="799374"/>
                  </a:lnTo>
                  <a:lnTo>
                    <a:pt x="0" y="0"/>
                  </a:lnTo>
                  <a:close/>
                </a:path>
              </a:pathLst>
            </a:custGeom>
            <a:blipFill>
              <a:blip r:embed="rId10"/>
              <a:stretch>
                <a:fillRect l="0" t="0" r="0" b="0"/>
              </a:stretch>
            </a:blipFill>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AutoShape 3" id="3"/>
          <p:cNvSpPr/>
          <p:nvPr/>
        </p:nvSpPr>
        <p:spPr>
          <a:xfrm rot="-1548106">
            <a:off x="-4494921" y="-1742740"/>
            <a:ext cx="13209989" cy="3047136"/>
          </a:xfrm>
          <a:prstGeom prst="rect">
            <a:avLst/>
          </a:prstGeom>
          <a:solidFill>
            <a:srgbClr val="C22B23"/>
          </a:solidFill>
        </p:spPr>
      </p:sp>
      <p:sp>
        <p:nvSpPr>
          <p:cNvPr name="TextBox 4" id="4"/>
          <p:cNvSpPr txBox="true"/>
          <p:nvPr/>
        </p:nvSpPr>
        <p:spPr>
          <a:xfrm rot="0">
            <a:off x="3183415" y="1527363"/>
            <a:ext cx="11921170" cy="1333500"/>
          </a:xfrm>
          <a:prstGeom prst="rect">
            <a:avLst/>
          </a:prstGeom>
        </p:spPr>
        <p:txBody>
          <a:bodyPr anchor="t" rtlCol="false" tIns="0" lIns="0" bIns="0" rIns="0">
            <a:spAutoFit/>
          </a:bodyPr>
          <a:lstStyle/>
          <a:p>
            <a:pPr algn="ctr">
              <a:lnSpc>
                <a:spcPts val="9999"/>
              </a:lnSpc>
            </a:pPr>
            <a:r>
              <a:rPr lang="en-US" b="true" sz="9999" spc="99">
                <a:solidFill>
                  <a:srgbClr val="FAFAFA"/>
                </a:solidFill>
                <a:latin typeface="Saira ExtraCondensed Heavy"/>
                <a:ea typeface="Saira ExtraCondensed Heavy"/>
                <a:cs typeface="Saira ExtraCondensed Heavy"/>
                <a:sym typeface="Saira ExtraCondensed Heavy"/>
              </a:rPr>
              <a:t>Vấn đề/Cơ hội</a:t>
            </a:r>
          </a:p>
        </p:txBody>
      </p:sp>
      <p:sp>
        <p:nvSpPr>
          <p:cNvPr name="AutoShape 5" id="5"/>
          <p:cNvSpPr/>
          <p:nvPr/>
        </p:nvSpPr>
        <p:spPr>
          <a:xfrm rot="0">
            <a:off x="2110073" y="3353932"/>
            <a:ext cx="4240248" cy="5344071"/>
          </a:xfrm>
          <a:prstGeom prst="rect">
            <a:avLst/>
          </a:prstGeom>
          <a:solidFill>
            <a:srgbClr val="FAFAFA"/>
          </a:solidFill>
        </p:spPr>
      </p:sp>
      <p:sp>
        <p:nvSpPr>
          <p:cNvPr name="AutoShape 6" id="6"/>
          <p:cNvSpPr/>
          <p:nvPr/>
        </p:nvSpPr>
        <p:spPr>
          <a:xfrm rot="0">
            <a:off x="2110073" y="3353932"/>
            <a:ext cx="1046557" cy="889712"/>
          </a:xfrm>
          <a:prstGeom prst="rect">
            <a:avLst/>
          </a:prstGeom>
          <a:solidFill>
            <a:srgbClr val="C22B23"/>
          </a:solidFill>
        </p:spPr>
      </p:sp>
      <p:sp>
        <p:nvSpPr>
          <p:cNvPr name="TextBox 7" id="7"/>
          <p:cNvSpPr txBox="true"/>
          <p:nvPr/>
        </p:nvSpPr>
        <p:spPr>
          <a:xfrm rot="0">
            <a:off x="2678558" y="5512252"/>
            <a:ext cx="3103280" cy="1008380"/>
          </a:xfrm>
          <a:prstGeom prst="rect">
            <a:avLst/>
          </a:prstGeom>
        </p:spPr>
        <p:txBody>
          <a:bodyPr anchor="t" rtlCol="false" tIns="0" lIns="0" bIns="0" rIns="0">
            <a:spAutoFit/>
          </a:bodyPr>
          <a:lstStyle/>
          <a:p>
            <a:pPr algn="l" marL="0" indent="0" lvl="0">
              <a:lnSpc>
                <a:spcPts val="2664"/>
              </a:lnSpc>
              <a:spcBef>
                <a:spcPct val="0"/>
              </a:spcBef>
            </a:pPr>
            <a:r>
              <a:rPr lang="en-US" sz="2049" u="none">
                <a:solidFill>
                  <a:srgbClr val="1E1D1D"/>
                </a:solidFill>
                <a:latin typeface="Montserrat"/>
                <a:ea typeface="Montserrat"/>
                <a:cs typeface="Montserrat"/>
                <a:sym typeface="Montserrat"/>
              </a:rPr>
              <a:t>Hãy trình bày ngắn gọn</a:t>
            </a:r>
          </a:p>
          <a:p>
            <a:pPr algn="l" marL="0" indent="0" lvl="0">
              <a:lnSpc>
                <a:spcPts val="2664"/>
              </a:lnSpc>
              <a:spcBef>
                <a:spcPct val="0"/>
              </a:spcBef>
            </a:pPr>
            <a:r>
              <a:rPr lang="en-US" sz="2049" u="none">
                <a:solidFill>
                  <a:srgbClr val="1E1D1D"/>
                </a:solidFill>
                <a:latin typeface="Montserrat"/>
                <a:ea typeface="Montserrat"/>
                <a:cs typeface="Montserrat"/>
                <a:sym typeface="Montserrat"/>
              </a:rPr>
              <a:t>về những gì bạn muốn thảo luận.</a:t>
            </a:r>
          </a:p>
        </p:txBody>
      </p:sp>
      <p:sp>
        <p:nvSpPr>
          <p:cNvPr name="AutoShape 8" id="8"/>
          <p:cNvSpPr/>
          <p:nvPr/>
        </p:nvSpPr>
        <p:spPr>
          <a:xfrm rot="0">
            <a:off x="7023876" y="3353932"/>
            <a:ext cx="4240248" cy="5344071"/>
          </a:xfrm>
          <a:prstGeom prst="rect">
            <a:avLst/>
          </a:prstGeom>
          <a:solidFill>
            <a:srgbClr val="FAFAFA"/>
          </a:solidFill>
        </p:spPr>
      </p:sp>
      <p:sp>
        <p:nvSpPr>
          <p:cNvPr name="AutoShape 9" id="9"/>
          <p:cNvSpPr/>
          <p:nvPr/>
        </p:nvSpPr>
        <p:spPr>
          <a:xfrm rot="0">
            <a:off x="7023876" y="3353932"/>
            <a:ext cx="1046557" cy="889712"/>
          </a:xfrm>
          <a:prstGeom prst="rect">
            <a:avLst/>
          </a:prstGeom>
          <a:solidFill>
            <a:srgbClr val="C22B23"/>
          </a:solidFill>
        </p:spPr>
      </p:sp>
      <p:sp>
        <p:nvSpPr>
          <p:cNvPr name="TextBox 10" id="10"/>
          <p:cNvSpPr txBox="true"/>
          <p:nvPr/>
        </p:nvSpPr>
        <p:spPr>
          <a:xfrm rot="0">
            <a:off x="7592360" y="5512252"/>
            <a:ext cx="3103280" cy="1008380"/>
          </a:xfrm>
          <a:prstGeom prst="rect">
            <a:avLst/>
          </a:prstGeom>
        </p:spPr>
        <p:txBody>
          <a:bodyPr anchor="t" rtlCol="false" tIns="0" lIns="0" bIns="0" rIns="0">
            <a:spAutoFit/>
          </a:bodyPr>
          <a:lstStyle/>
          <a:p>
            <a:pPr algn="l" marL="0" indent="0" lvl="0">
              <a:lnSpc>
                <a:spcPts val="2664"/>
              </a:lnSpc>
              <a:spcBef>
                <a:spcPct val="0"/>
              </a:spcBef>
            </a:pPr>
            <a:r>
              <a:rPr lang="en-US" sz="2049" u="none">
                <a:solidFill>
                  <a:srgbClr val="1E1D1D"/>
                </a:solidFill>
                <a:latin typeface="Montserrat"/>
                <a:ea typeface="Montserrat"/>
                <a:cs typeface="Montserrat"/>
                <a:sym typeface="Montserrat"/>
              </a:rPr>
              <a:t>Hãy trình bày ngắn gọn</a:t>
            </a:r>
          </a:p>
          <a:p>
            <a:pPr algn="l" marL="0" indent="0" lvl="0">
              <a:lnSpc>
                <a:spcPts val="2664"/>
              </a:lnSpc>
              <a:spcBef>
                <a:spcPct val="0"/>
              </a:spcBef>
            </a:pPr>
            <a:r>
              <a:rPr lang="en-US" sz="2049" u="none">
                <a:solidFill>
                  <a:srgbClr val="1E1D1D"/>
                </a:solidFill>
                <a:latin typeface="Montserrat"/>
                <a:ea typeface="Montserrat"/>
                <a:cs typeface="Montserrat"/>
                <a:sym typeface="Montserrat"/>
              </a:rPr>
              <a:t>về những gì bạn muốn thảo luận.</a:t>
            </a:r>
          </a:p>
        </p:txBody>
      </p:sp>
      <p:sp>
        <p:nvSpPr>
          <p:cNvPr name="AutoShape 11" id="11"/>
          <p:cNvSpPr/>
          <p:nvPr/>
        </p:nvSpPr>
        <p:spPr>
          <a:xfrm rot="0">
            <a:off x="11937678" y="3353932"/>
            <a:ext cx="4240248" cy="5344071"/>
          </a:xfrm>
          <a:prstGeom prst="rect">
            <a:avLst/>
          </a:prstGeom>
          <a:solidFill>
            <a:srgbClr val="FAFAFA"/>
          </a:solidFill>
        </p:spPr>
      </p:sp>
      <p:sp>
        <p:nvSpPr>
          <p:cNvPr name="AutoShape 12" id="12"/>
          <p:cNvSpPr/>
          <p:nvPr/>
        </p:nvSpPr>
        <p:spPr>
          <a:xfrm rot="0">
            <a:off x="11937678" y="3353932"/>
            <a:ext cx="1046557" cy="889712"/>
          </a:xfrm>
          <a:prstGeom prst="rect">
            <a:avLst/>
          </a:prstGeom>
          <a:solidFill>
            <a:srgbClr val="C22B23"/>
          </a:solidFill>
        </p:spPr>
      </p:sp>
      <p:sp>
        <p:nvSpPr>
          <p:cNvPr name="TextBox 13" id="13"/>
          <p:cNvSpPr txBox="true"/>
          <p:nvPr/>
        </p:nvSpPr>
        <p:spPr>
          <a:xfrm rot="0">
            <a:off x="2384560" y="3541613"/>
            <a:ext cx="497584" cy="485775"/>
          </a:xfrm>
          <a:prstGeom prst="rect">
            <a:avLst/>
          </a:prstGeom>
        </p:spPr>
        <p:txBody>
          <a:bodyPr anchor="t" rtlCol="false" tIns="0" lIns="0" bIns="0" rIns="0">
            <a:spAutoFit/>
          </a:bodyPr>
          <a:lstStyle/>
          <a:p>
            <a:pPr algn="ctr" marL="0" indent="0" lvl="0">
              <a:lnSpc>
                <a:spcPts val="3900"/>
              </a:lnSpc>
              <a:spcBef>
                <a:spcPct val="0"/>
              </a:spcBef>
            </a:pPr>
            <a:r>
              <a:rPr lang="en-US" b="true" sz="3000" u="none">
                <a:solidFill>
                  <a:srgbClr val="FAFAFA"/>
                </a:solidFill>
                <a:latin typeface="Saira ExtraCondensed Heavy"/>
                <a:ea typeface="Saira ExtraCondensed Heavy"/>
                <a:cs typeface="Saira ExtraCondensed Heavy"/>
                <a:sym typeface="Saira ExtraCondensed Heavy"/>
              </a:rPr>
              <a:t>01</a:t>
            </a:r>
          </a:p>
        </p:txBody>
      </p:sp>
      <p:sp>
        <p:nvSpPr>
          <p:cNvPr name="TextBox 14" id="14"/>
          <p:cNvSpPr txBox="true"/>
          <p:nvPr/>
        </p:nvSpPr>
        <p:spPr>
          <a:xfrm rot="0">
            <a:off x="7298362" y="3541613"/>
            <a:ext cx="497584" cy="485775"/>
          </a:xfrm>
          <a:prstGeom prst="rect">
            <a:avLst/>
          </a:prstGeom>
        </p:spPr>
        <p:txBody>
          <a:bodyPr anchor="t" rtlCol="false" tIns="0" lIns="0" bIns="0" rIns="0">
            <a:spAutoFit/>
          </a:bodyPr>
          <a:lstStyle/>
          <a:p>
            <a:pPr algn="ctr" marL="0" indent="0" lvl="0">
              <a:lnSpc>
                <a:spcPts val="3900"/>
              </a:lnSpc>
              <a:spcBef>
                <a:spcPct val="0"/>
              </a:spcBef>
            </a:pPr>
            <a:r>
              <a:rPr lang="en-US" b="true" sz="3000">
                <a:solidFill>
                  <a:srgbClr val="FAFAFA"/>
                </a:solidFill>
                <a:latin typeface="Saira ExtraCondensed Heavy"/>
                <a:ea typeface="Saira ExtraCondensed Heavy"/>
                <a:cs typeface="Saira ExtraCondensed Heavy"/>
                <a:sym typeface="Saira ExtraCondensed Heavy"/>
              </a:rPr>
              <a:t>02</a:t>
            </a:r>
          </a:p>
        </p:txBody>
      </p:sp>
      <p:sp>
        <p:nvSpPr>
          <p:cNvPr name="TextBox 15" id="15"/>
          <p:cNvSpPr txBox="true"/>
          <p:nvPr/>
        </p:nvSpPr>
        <p:spPr>
          <a:xfrm rot="0">
            <a:off x="12212165" y="3541613"/>
            <a:ext cx="497584" cy="485775"/>
          </a:xfrm>
          <a:prstGeom prst="rect">
            <a:avLst/>
          </a:prstGeom>
        </p:spPr>
        <p:txBody>
          <a:bodyPr anchor="t" rtlCol="false" tIns="0" lIns="0" bIns="0" rIns="0">
            <a:spAutoFit/>
          </a:bodyPr>
          <a:lstStyle/>
          <a:p>
            <a:pPr algn="ctr" marL="0" indent="0" lvl="0">
              <a:lnSpc>
                <a:spcPts val="3900"/>
              </a:lnSpc>
              <a:spcBef>
                <a:spcPct val="0"/>
              </a:spcBef>
            </a:pPr>
            <a:r>
              <a:rPr lang="en-US" b="true" sz="3000">
                <a:solidFill>
                  <a:srgbClr val="FAFAFA"/>
                </a:solidFill>
                <a:latin typeface="Saira ExtraCondensed Heavy"/>
                <a:ea typeface="Saira ExtraCondensed Heavy"/>
                <a:cs typeface="Saira ExtraCondensed Heavy"/>
                <a:sym typeface="Saira ExtraCondensed Heavy"/>
              </a:rPr>
              <a:t>03</a:t>
            </a:r>
          </a:p>
        </p:txBody>
      </p:sp>
      <p:sp>
        <p:nvSpPr>
          <p:cNvPr name="TextBox 16" id="16"/>
          <p:cNvSpPr txBox="true"/>
          <p:nvPr/>
        </p:nvSpPr>
        <p:spPr>
          <a:xfrm rot="0">
            <a:off x="12506163" y="5512252"/>
            <a:ext cx="3103280" cy="1008380"/>
          </a:xfrm>
          <a:prstGeom prst="rect">
            <a:avLst/>
          </a:prstGeom>
        </p:spPr>
        <p:txBody>
          <a:bodyPr anchor="t" rtlCol="false" tIns="0" lIns="0" bIns="0" rIns="0">
            <a:spAutoFit/>
          </a:bodyPr>
          <a:lstStyle/>
          <a:p>
            <a:pPr algn="l" marL="0" indent="0" lvl="0">
              <a:lnSpc>
                <a:spcPts val="2664"/>
              </a:lnSpc>
              <a:spcBef>
                <a:spcPct val="0"/>
              </a:spcBef>
            </a:pPr>
            <a:r>
              <a:rPr lang="en-US" sz="2049" u="none">
                <a:solidFill>
                  <a:srgbClr val="1E1D1D"/>
                </a:solidFill>
                <a:latin typeface="Montserrat"/>
                <a:ea typeface="Montserrat"/>
                <a:cs typeface="Montserrat"/>
                <a:sym typeface="Montserrat"/>
              </a:rPr>
              <a:t>Hãy trình bày ngắn gọn</a:t>
            </a:r>
          </a:p>
          <a:p>
            <a:pPr algn="l" marL="0" indent="0" lvl="0">
              <a:lnSpc>
                <a:spcPts val="2664"/>
              </a:lnSpc>
              <a:spcBef>
                <a:spcPct val="0"/>
              </a:spcBef>
            </a:pPr>
            <a:r>
              <a:rPr lang="en-US" sz="2049" u="none">
                <a:solidFill>
                  <a:srgbClr val="1E1D1D"/>
                </a:solidFill>
                <a:latin typeface="Montserrat"/>
                <a:ea typeface="Montserrat"/>
                <a:cs typeface="Montserrat"/>
                <a:sym typeface="Montserrat"/>
              </a:rPr>
              <a:t>về những gì bạn muốn thảo luận.</a:t>
            </a:r>
          </a:p>
        </p:txBody>
      </p:sp>
      <p:grpSp>
        <p:nvGrpSpPr>
          <p:cNvPr name="Group 17" id="17"/>
          <p:cNvGrpSpPr/>
          <p:nvPr/>
        </p:nvGrpSpPr>
        <p:grpSpPr>
          <a:xfrm rot="0">
            <a:off x="12212165" y="8107159"/>
            <a:ext cx="5821255" cy="1676989"/>
            <a:chOff x="0" y="0"/>
            <a:chExt cx="7761673" cy="2235986"/>
          </a:xfrm>
        </p:grpSpPr>
        <p:grpSp>
          <p:nvGrpSpPr>
            <p:cNvPr name="Group 18" id="18"/>
            <p:cNvGrpSpPr/>
            <p:nvPr/>
          </p:nvGrpSpPr>
          <p:grpSpPr>
            <a:xfrm rot="0">
              <a:off x="0" y="0"/>
              <a:ext cx="7761673" cy="2235986"/>
              <a:chOff x="0" y="0"/>
              <a:chExt cx="3797470" cy="1098375"/>
            </a:xfrm>
          </p:grpSpPr>
          <p:sp>
            <p:nvSpPr>
              <p:cNvPr name="Freeform 19" id="19"/>
              <p:cNvSpPr/>
              <p:nvPr/>
            </p:nvSpPr>
            <p:spPr>
              <a:xfrm flipH="false" flipV="false" rot="0">
                <a:off x="0" y="0"/>
                <a:ext cx="3797471" cy="1098375"/>
              </a:xfrm>
              <a:custGeom>
                <a:avLst/>
                <a:gdLst/>
                <a:ahLst/>
                <a:cxnLst/>
                <a:rect r="r" b="b" t="t" l="l"/>
                <a:pathLst>
                  <a:path h="1098375" w="3797471">
                    <a:moveTo>
                      <a:pt x="3673010" y="1098375"/>
                    </a:moveTo>
                    <a:lnTo>
                      <a:pt x="124460" y="1098375"/>
                    </a:lnTo>
                    <a:cubicBezTo>
                      <a:pt x="55880" y="1098375"/>
                      <a:pt x="0" y="1042495"/>
                      <a:pt x="0" y="973915"/>
                    </a:cubicBezTo>
                    <a:lnTo>
                      <a:pt x="0" y="124460"/>
                    </a:lnTo>
                    <a:cubicBezTo>
                      <a:pt x="0" y="55880"/>
                      <a:pt x="55880" y="0"/>
                      <a:pt x="124460" y="0"/>
                    </a:cubicBezTo>
                    <a:lnTo>
                      <a:pt x="3673010" y="0"/>
                    </a:lnTo>
                    <a:cubicBezTo>
                      <a:pt x="3741590" y="0"/>
                      <a:pt x="3797471" y="55880"/>
                      <a:pt x="3797471" y="124460"/>
                    </a:cubicBezTo>
                    <a:lnTo>
                      <a:pt x="3797471" y="973915"/>
                    </a:lnTo>
                    <a:cubicBezTo>
                      <a:pt x="3797471" y="1042495"/>
                      <a:pt x="3741590" y="1098375"/>
                      <a:pt x="3673010" y="1098375"/>
                    </a:cubicBezTo>
                    <a:close/>
                  </a:path>
                </a:pathLst>
              </a:custGeom>
              <a:solidFill>
                <a:srgbClr val="FAFAFA"/>
              </a:solidFill>
            </p:spPr>
          </p:sp>
        </p:grpSp>
        <p:sp>
          <p:nvSpPr>
            <p:cNvPr name="TextBox 20" id="20"/>
            <p:cNvSpPr txBox="true"/>
            <p:nvPr/>
          </p:nvSpPr>
          <p:spPr>
            <a:xfrm rot="0">
              <a:off x="1726950" y="1527976"/>
              <a:ext cx="5597400" cy="282575"/>
            </a:xfrm>
            <a:prstGeom prst="rect">
              <a:avLst/>
            </a:prstGeom>
          </p:spPr>
          <p:txBody>
            <a:bodyPr anchor="t" rtlCol="false" tIns="0" lIns="0" bIns="0" rIns="0">
              <a:spAutoFit/>
            </a:bodyPr>
            <a:lstStyle/>
            <a:p>
              <a:pPr algn="l">
                <a:lnSpc>
                  <a:spcPts val="1875"/>
                </a:lnSpc>
                <a:spcBef>
                  <a:spcPct val="0"/>
                </a:spcBef>
              </a:pPr>
              <a:r>
                <a:rPr lang="en-US" sz="1250" i="true">
                  <a:solidFill>
                    <a:srgbClr val="C22B23"/>
                  </a:solidFill>
                  <a:latin typeface="Montserrat Italics"/>
                  <a:ea typeface="Montserrat Italics"/>
                  <a:cs typeface="Montserrat Italics"/>
                  <a:sym typeface="Montserrat Italics"/>
                </a:rPr>
                <a:t>Vui lòng xóa ghi chú sau khi chỉnh sửa trang này.</a:t>
              </a:r>
            </a:p>
          </p:txBody>
        </p:sp>
        <p:sp>
          <p:nvSpPr>
            <p:cNvPr name="TextBox 21" id="21"/>
            <p:cNvSpPr txBox="true"/>
            <p:nvPr/>
          </p:nvSpPr>
          <p:spPr>
            <a:xfrm rot="0">
              <a:off x="1726950" y="356855"/>
              <a:ext cx="5605506" cy="980440"/>
            </a:xfrm>
            <a:prstGeom prst="rect">
              <a:avLst/>
            </a:prstGeom>
          </p:spPr>
          <p:txBody>
            <a:bodyPr anchor="t" rtlCol="false" tIns="0" lIns="0" bIns="0" rIns="0">
              <a:spAutoFit/>
            </a:bodyPr>
            <a:lstStyle/>
            <a:p>
              <a:pPr algn="l" marL="0" indent="0" lvl="0">
                <a:lnSpc>
                  <a:spcPts val="1987"/>
                </a:lnSpc>
                <a:spcBef>
                  <a:spcPct val="0"/>
                </a:spcBef>
              </a:pPr>
              <a:r>
                <a:rPr lang="en-US" sz="1325" u="none">
                  <a:solidFill>
                    <a:srgbClr val="1E1D1D"/>
                  </a:solidFill>
                  <a:latin typeface="Montserrat"/>
                  <a:ea typeface="Montserrat"/>
                  <a:cs typeface="Montserrat"/>
                  <a:sym typeface="Montserrat"/>
                  <a:hlinkClick r:id="rId3" tooltip="https://docs.google.com/spreadsheets/d/1DUF2isFWsqVSYhbaACYtbgcLi_YjDqpE3GLQIVgkKQg/edit#gid=69851113"/>
                </a:rPr>
                <a:t>Mô tả nhược điểm mà bạn đang giảm bớt hoặc ưu điểm mà bạn đang mang lại. Mục đích là để thay đổi quan điểm của các nhà đầu tư.</a:t>
              </a:r>
            </a:p>
          </p:txBody>
        </p:sp>
        <p:sp>
          <p:nvSpPr>
            <p:cNvPr name="Freeform 22" id="22"/>
            <p:cNvSpPr/>
            <p:nvPr/>
          </p:nvSpPr>
          <p:spPr>
            <a:xfrm flipH="false" flipV="false" rot="0">
              <a:off x="655470" y="718306"/>
              <a:ext cx="747914" cy="799374"/>
            </a:xfrm>
            <a:custGeom>
              <a:avLst/>
              <a:gdLst/>
              <a:ahLst/>
              <a:cxnLst/>
              <a:rect r="r" b="b" t="t" l="l"/>
              <a:pathLst>
                <a:path h="799374" w="747914">
                  <a:moveTo>
                    <a:pt x="0" y="0"/>
                  </a:moveTo>
                  <a:lnTo>
                    <a:pt x="747914" y="0"/>
                  </a:lnTo>
                  <a:lnTo>
                    <a:pt x="747914" y="799374"/>
                  </a:lnTo>
                  <a:lnTo>
                    <a:pt x="0" y="799374"/>
                  </a:lnTo>
                  <a:lnTo>
                    <a:pt x="0" y="0"/>
                  </a:lnTo>
                  <a:close/>
                </a:path>
              </a:pathLst>
            </a:custGeom>
            <a:blipFill>
              <a:blip r:embed="rId4"/>
              <a:stretch>
                <a:fillRect l="0" t="0" r="0"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C22B23"/>
        </a:solidFill>
      </p:bgPr>
    </p:bg>
    <p:spTree>
      <p:nvGrpSpPr>
        <p:cNvPr id="1" name=""/>
        <p:cNvGrpSpPr/>
        <p:nvPr/>
      </p:nvGrpSpPr>
      <p:grpSpPr>
        <a:xfrm>
          <a:off x="0" y="0"/>
          <a:ext cx="0" cy="0"/>
          <a:chOff x="0" y="0"/>
          <a:chExt cx="0" cy="0"/>
        </a:xfrm>
      </p:grpSpPr>
      <p:grpSp>
        <p:nvGrpSpPr>
          <p:cNvPr name="Group 2" id="2"/>
          <p:cNvGrpSpPr/>
          <p:nvPr/>
        </p:nvGrpSpPr>
        <p:grpSpPr>
          <a:xfrm rot="0">
            <a:off x="5094089" y="4220325"/>
            <a:ext cx="1733202" cy="825201"/>
            <a:chOff x="0" y="0"/>
            <a:chExt cx="13398500" cy="6379210"/>
          </a:xfrm>
        </p:grpSpPr>
        <p:sp>
          <p:nvSpPr>
            <p:cNvPr name="Freeform 3" id="3"/>
            <p:cNvSpPr/>
            <p:nvPr/>
          </p:nvSpPr>
          <p:spPr>
            <a:xfrm flipH="false" flipV="false" rot="0">
              <a:off x="0" y="0"/>
              <a:ext cx="13398500" cy="6379210"/>
            </a:xfrm>
            <a:custGeom>
              <a:avLst/>
              <a:gdLst/>
              <a:ahLst/>
              <a:cxnLst/>
              <a:rect r="r" b="b" t="t" l="l"/>
              <a:pathLst>
                <a:path h="6379210" w="13398500">
                  <a:moveTo>
                    <a:pt x="6747510" y="0"/>
                  </a:moveTo>
                  <a:lnTo>
                    <a:pt x="6645910" y="0"/>
                  </a:lnTo>
                  <a:lnTo>
                    <a:pt x="6638290" y="7620"/>
                  </a:lnTo>
                  <a:lnTo>
                    <a:pt x="0" y="6379210"/>
                  </a:lnTo>
                  <a:lnTo>
                    <a:pt x="6752590" y="6379210"/>
                  </a:lnTo>
                  <a:lnTo>
                    <a:pt x="13398500" y="0"/>
                  </a:lnTo>
                  <a:close/>
                </a:path>
              </a:pathLst>
            </a:custGeom>
            <a:solidFill>
              <a:srgbClr val="1E1D1D"/>
            </a:solidFill>
          </p:spPr>
        </p:sp>
      </p:grpSp>
      <p:sp>
        <p:nvSpPr>
          <p:cNvPr name="TextBox 4" id="4"/>
          <p:cNvSpPr txBox="true"/>
          <p:nvPr/>
        </p:nvSpPr>
        <p:spPr>
          <a:xfrm rot="0">
            <a:off x="1028700" y="1933870"/>
            <a:ext cx="11774628" cy="1333500"/>
          </a:xfrm>
          <a:prstGeom prst="rect">
            <a:avLst/>
          </a:prstGeom>
        </p:spPr>
        <p:txBody>
          <a:bodyPr anchor="t" rtlCol="false" tIns="0" lIns="0" bIns="0" rIns="0">
            <a:spAutoFit/>
          </a:bodyPr>
          <a:lstStyle/>
          <a:p>
            <a:pPr algn="l">
              <a:lnSpc>
                <a:spcPts val="9999"/>
              </a:lnSpc>
            </a:pPr>
            <a:r>
              <a:rPr lang="en-US" b="true" sz="9999" spc="99">
                <a:solidFill>
                  <a:srgbClr val="FAFAFA"/>
                </a:solidFill>
                <a:latin typeface="Saira ExtraCondensed Heavy"/>
                <a:ea typeface="Saira ExtraCondensed Heavy"/>
                <a:cs typeface="Saira ExtraCondensed Heavy"/>
                <a:sym typeface="Saira ExtraCondensed Heavy"/>
              </a:rPr>
              <a:t>Vấn đề/Cơ hội</a:t>
            </a:r>
          </a:p>
        </p:txBody>
      </p:sp>
      <p:grpSp>
        <p:nvGrpSpPr>
          <p:cNvPr name="Group 5" id="5"/>
          <p:cNvGrpSpPr/>
          <p:nvPr/>
        </p:nvGrpSpPr>
        <p:grpSpPr>
          <a:xfrm rot="0">
            <a:off x="5094089" y="5839582"/>
            <a:ext cx="1733202" cy="825201"/>
            <a:chOff x="0" y="0"/>
            <a:chExt cx="13398500" cy="6379210"/>
          </a:xfrm>
        </p:grpSpPr>
        <p:sp>
          <p:nvSpPr>
            <p:cNvPr name="Freeform 6" id="6"/>
            <p:cNvSpPr/>
            <p:nvPr/>
          </p:nvSpPr>
          <p:spPr>
            <a:xfrm flipH="false" flipV="false" rot="0">
              <a:off x="0" y="0"/>
              <a:ext cx="13398500" cy="6379210"/>
            </a:xfrm>
            <a:custGeom>
              <a:avLst/>
              <a:gdLst/>
              <a:ahLst/>
              <a:cxnLst/>
              <a:rect r="r" b="b" t="t" l="l"/>
              <a:pathLst>
                <a:path h="6379210" w="13398500">
                  <a:moveTo>
                    <a:pt x="6747510" y="0"/>
                  </a:moveTo>
                  <a:lnTo>
                    <a:pt x="6645910" y="0"/>
                  </a:lnTo>
                  <a:lnTo>
                    <a:pt x="6638290" y="7620"/>
                  </a:lnTo>
                  <a:lnTo>
                    <a:pt x="0" y="6379210"/>
                  </a:lnTo>
                  <a:lnTo>
                    <a:pt x="6752590" y="6379210"/>
                  </a:lnTo>
                  <a:lnTo>
                    <a:pt x="13398500" y="0"/>
                  </a:lnTo>
                  <a:close/>
                </a:path>
              </a:pathLst>
            </a:custGeom>
            <a:solidFill>
              <a:srgbClr val="1E1D1D"/>
            </a:solidFill>
          </p:spPr>
        </p:sp>
      </p:grpSp>
      <p:grpSp>
        <p:nvGrpSpPr>
          <p:cNvPr name="Group 7" id="7"/>
          <p:cNvGrpSpPr/>
          <p:nvPr/>
        </p:nvGrpSpPr>
        <p:grpSpPr>
          <a:xfrm rot="0">
            <a:off x="5094089" y="7514868"/>
            <a:ext cx="1733202" cy="825201"/>
            <a:chOff x="0" y="0"/>
            <a:chExt cx="13398500" cy="6379210"/>
          </a:xfrm>
        </p:grpSpPr>
        <p:sp>
          <p:nvSpPr>
            <p:cNvPr name="Freeform 8" id="8"/>
            <p:cNvSpPr/>
            <p:nvPr/>
          </p:nvSpPr>
          <p:spPr>
            <a:xfrm flipH="false" flipV="false" rot="0">
              <a:off x="0" y="0"/>
              <a:ext cx="13398500" cy="6379210"/>
            </a:xfrm>
            <a:custGeom>
              <a:avLst/>
              <a:gdLst/>
              <a:ahLst/>
              <a:cxnLst/>
              <a:rect r="r" b="b" t="t" l="l"/>
              <a:pathLst>
                <a:path h="6379210" w="13398500">
                  <a:moveTo>
                    <a:pt x="6747510" y="0"/>
                  </a:moveTo>
                  <a:lnTo>
                    <a:pt x="6645910" y="0"/>
                  </a:lnTo>
                  <a:lnTo>
                    <a:pt x="6638290" y="7620"/>
                  </a:lnTo>
                  <a:lnTo>
                    <a:pt x="0" y="6379210"/>
                  </a:lnTo>
                  <a:lnTo>
                    <a:pt x="6752590" y="6379210"/>
                  </a:lnTo>
                  <a:lnTo>
                    <a:pt x="13398500" y="0"/>
                  </a:lnTo>
                  <a:close/>
                </a:path>
              </a:pathLst>
            </a:custGeom>
            <a:solidFill>
              <a:srgbClr val="1E1D1D"/>
            </a:solidFill>
          </p:spPr>
        </p:sp>
      </p:grpSp>
      <p:sp>
        <p:nvSpPr>
          <p:cNvPr name="AutoShape 9" id="9"/>
          <p:cNvSpPr/>
          <p:nvPr/>
        </p:nvSpPr>
        <p:spPr>
          <a:xfrm rot="253588">
            <a:off x="-1207534" y="9823004"/>
            <a:ext cx="20289206" cy="3047136"/>
          </a:xfrm>
          <a:prstGeom prst="rect">
            <a:avLst/>
          </a:prstGeom>
          <a:solidFill>
            <a:srgbClr val="1E1D1D"/>
          </a:solidFill>
        </p:spPr>
      </p:sp>
      <p:sp>
        <p:nvSpPr>
          <p:cNvPr name="AutoShape 10" id="10"/>
          <p:cNvSpPr/>
          <p:nvPr/>
        </p:nvSpPr>
        <p:spPr>
          <a:xfrm rot="253588">
            <a:off x="-3349154" y="-2566414"/>
            <a:ext cx="22848168" cy="3047136"/>
          </a:xfrm>
          <a:prstGeom prst="rect">
            <a:avLst/>
          </a:prstGeom>
          <a:solidFill>
            <a:srgbClr val="1E1D1D"/>
          </a:solidFill>
        </p:spPr>
      </p:sp>
      <p:sp>
        <p:nvSpPr>
          <p:cNvPr name="TextBox 11" id="11"/>
          <p:cNvSpPr txBox="true"/>
          <p:nvPr/>
        </p:nvSpPr>
        <p:spPr>
          <a:xfrm rot="0">
            <a:off x="7835075" y="4429091"/>
            <a:ext cx="9059879" cy="388620"/>
          </a:xfrm>
          <a:prstGeom prst="rect">
            <a:avLst/>
          </a:prstGeom>
        </p:spPr>
        <p:txBody>
          <a:bodyPr anchor="t" rtlCol="false" tIns="0" lIns="0" bIns="0" rIns="0">
            <a:spAutoFit/>
          </a:bodyPr>
          <a:lstStyle/>
          <a:p>
            <a:pPr algn="l" marL="0" indent="0" lvl="0">
              <a:lnSpc>
                <a:spcPts val="3152"/>
              </a:lnSpc>
              <a:spcBef>
                <a:spcPct val="0"/>
              </a:spcBef>
            </a:pPr>
            <a:r>
              <a:rPr lang="en-US" sz="2424" u="none">
                <a:solidFill>
                  <a:srgbClr val="FAFAFA"/>
                </a:solidFill>
                <a:latin typeface="Montserrat"/>
                <a:ea typeface="Montserrat"/>
                <a:cs typeface="Montserrat"/>
                <a:sym typeface="Montserrat"/>
              </a:rPr>
              <a:t>Hãy trình bày ngắn gọn về những gì bạn muốn thảo luận.</a:t>
            </a:r>
          </a:p>
        </p:txBody>
      </p:sp>
      <p:sp>
        <p:nvSpPr>
          <p:cNvPr name="TextBox 12" id="12"/>
          <p:cNvSpPr txBox="true"/>
          <p:nvPr/>
        </p:nvSpPr>
        <p:spPr>
          <a:xfrm rot="0">
            <a:off x="7835075" y="6048347"/>
            <a:ext cx="9059879" cy="388620"/>
          </a:xfrm>
          <a:prstGeom prst="rect">
            <a:avLst/>
          </a:prstGeom>
        </p:spPr>
        <p:txBody>
          <a:bodyPr anchor="t" rtlCol="false" tIns="0" lIns="0" bIns="0" rIns="0">
            <a:spAutoFit/>
          </a:bodyPr>
          <a:lstStyle/>
          <a:p>
            <a:pPr algn="l" marL="0" indent="0" lvl="0">
              <a:lnSpc>
                <a:spcPts val="3152"/>
              </a:lnSpc>
              <a:spcBef>
                <a:spcPct val="0"/>
              </a:spcBef>
            </a:pPr>
            <a:r>
              <a:rPr lang="en-US" sz="2424" u="none">
                <a:solidFill>
                  <a:srgbClr val="FAFAFA"/>
                </a:solidFill>
                <a:latin typeface="Montserrat"/>
                <a:ea typeface="Montserrat"/>
                <a:cs typeface="Montserrat"/>
                <a:sym typeface="Montserrat"/>
              </a:rPr>
              <a:t>Hãy trình bày ngắn gọn về những gì bạn muốn thảo luận.</a:t>
            </a:r>
          </a:p>
        </p:txBody>
      </p:sp>
      <p:sp>
        <p:nvSpPr>
          <p:cNvPr name="TextBox 13" id="13"/>
          <p:cNvSpPr txBox="true"/>
          <p:nvPr/>
        </p:nvSpPr>
        <p:spPr>
          <a:xfrm rot="0">
            <a:off x="7835075" y="7723634"/>
            <a:ext cx="9059879" cy="388620"/>
          </a:xfrm>
          <a:prstGeom prst="rect">
            <a:avLst/>
          </a:prstGeom>
        </p:spPr>
        <p:txBody>
          <a:bodyPr anchor="t" rtlCol="false" tIns="0" lIns="0" bIns="0" rIns="0">
            <a:spAutoFit/>
          </a:bodyPr>
          <a:lstStyle/>
          <a:p>
            <a:pPr algn="l" marL="0" indent="0" lvl="0">
              <a:lnSpc>
                <a:spcPts val="3152"/>
              </a:lnSpc>
              <a:spcBef>
                <a:spcPct val="0"/>
              </a:spcBef>
            </a:pPr>
            <a:r>
              <a:rPr lang="en-US" sz="2424" u="none">
                <a:solidFill>
                  <a:srgbClr val="FAFAFA"/>
                </a:solidFill>
                <a:latin typeface="Montserrat"/>
                <a:ea typeface="Montserrat"/>
                <a:cs typeface="Montserrat"/>
                <a:sym typeface="Montserrat"/>
              </a:rPr>
              <a:t>Hãy trình bày ngắn gọn về những gì bạn muốn thảo luận.</a:t>
            </a:r>
          </a:p>
        </p:txBody>
      </p:sp>
      <p:grpSp>
        <p:nvGrpSpPr>
          <p:cNvPr name="Group 14" id="14"/>
          <p:cNvGrpSpPr/>
          <p:nvPr/>
        </p:nvGrpSpPr>
        <p:grpSpPr>
          <a:xfrm rot="0">
            <a:off x="11959782" y="542630"/>
            <a:ext cx="5780871" cy="1429339"/>
            <a:chOff x="0" y="0"/>
            <a:chExt cx="7707828" cy="1905786"/>
          </a:xfrm>
        </p:grpSpPr>
        <p:grpSp>
          <p:nvGrpSpPr>
            <p:cNvPr name="Group 15" id="15"/>
            <p:cNvGrpSpPr/>
            <p:nvPr/>
          </p:nvGrpSpPr>
          <p:grpSpPr>
            <a:xfrm rot="0">
              <a:off x="0" y="0"/>
              <a:ext cx="7707828" cy="1905786"/>
              <a:chOff x="0" y="0"/>
              <a:chExt cx="3771126" cy="936172"/>
            </a:xfrm>
          </p:grpSpPr>
          <p:sp>
            <p:nvSpPr>
              <p:cNvPr name="Freeform 16" id="16"/>
              <p:cNvSpPr/>
              <p:nvPr/>
            </p:nvSpPr>
            <p:spPr>
              <a:xfrm flipH="false" flipV="false" rot="0">
                <a:off x="0" y="0"/>
                <a:ext cx="3771126" cy="936172"/>
              </a:xfrm>
              <a:custGeom>
                <a:avLst/>
                <a:gdLst/>
                <a:ahLst/>
                <a:cxnLst/>
                <a:rect r="r" b="b" t="t" l="l"/>
                <a:pathLst>
                  <a:path h="936172" w="3771126">
                    <a:moveTo>
                      <a:pt x="3646666" y="936172"/>
                    </a:moveTo>
                    <a:lnTo>
                      <a:pt x="124460" y="936172"/>
                    </a:lnTo>
                    <a:cubicBezTo>
                      <a:pt x="55880" y="936172"/>
                      <a:pt x="0" y="880292"/>
                      <a:pt x="0" y="811712"/>
                    </a:cubicBezTo>
                    <a:lnTo>
                      <a:pt x="0" y="124460"/>
                    </a:lnTo>
                    <a:cubicBezTo>
                      <a:pt x="0" y="55880"/>
                      <a:pt x="55880" y="0"/>
                      <a:pt x="124460" y="0"/>
                    </a:cubicBezTo>
                    <a:lnTo>
                      <a:pt x="3646666" y="0"/>
                    </a:lnTo>
                    <a:cubicBezTo>
                      <a:pt x="3715246" y="0"/>
                      <a:pt x="3771126" y="55880"/>
                      <a:pt x="3771126" y="124460"/>
                    </a:cubicBezTo>
                    <a:lnTo>
                      <a:pt x="3771126" y="811712"/>
                    </a:lnTo>
                    <a:cubicBezTo>
                      <a:pt x="3771126" y="880292"/>
                      <a:pt x="3715246" y="936172"/>
                      <a:pt x="3646666" y="936172"/>
                    </a:cubicBezTo>
                    <a:close/>
                  </a:path>
                </a:pathLst>
              </a:custGeom>
              <a:solidFill>
                <a:srgbClr val="FAFAFA"/>
              </a:solidFill>
            </p:spPr>
          </p:sp>
        </p:grpSp>
        <p:sp>
          <p:nvSpPr>
            <p:cNvPr name="TextBox 17" id="17"/>
            <p:cNvSpPr txBox="true"/>
            <p:nvPr/>
          </p:nvSpPr>
          <p:spPr>
            <a:xfrm rot="0">
              <a:off x="1598267" y="1185076"/>
              <a:ext cx="5503906" cy="282575"/>
            </a:xfrm>
            <a:prstGeom prst="rect">
              <a:avLst/>
            </a:prstGeom>
          </p:spPr>
          <p:txBody>
            <a:bodyPr anchor="t" rtlCol="false" tIns="0" lIns="0" bIns="0" rIns="0">
              <a:spAutoFit/>
            </a:bodyPr>
            <a:lstStyle/>
            <a:p>
              <a:pPr algn="l">
                <a:lnSpc>
                  <a:spcPts val="1875"/>
                </a:lnSpc>
                <a:spcBef>
                  <a:spcPct val="0"/>
                </a:spcBef>
              </a:pPr>
              <a:r>
                <a:rPr lang="en-US" sz="1250" i="true">
                  <a:solidFill>
                    <a:srgbClr val="C22B23"/>
                  </a:solidFill>
                  <a:latin typeface="Montserrat Italics"/>
                  <a:ea typeface="Montserrat Italics"/>
                  <a:cs typeface="Montserrat Italics"/>
                  <a:sym typeface="Montserrat Italics"/>
                </a:rPr>
                <a:t>Vui lòng xóa ghi chú sau khi chỉnh sửa trang này.</a:t>
              </a:r>
            </a:p>
          </p:txBody>
        </p:sp>
        <p:sp>
          <p:nvSpPr>
            <p:cNvPr name="TextBox 18" id="18"/>
            <p:cNvSpPr txBox="true"/>
            <p:nvPr/>
          </p:nvSpPr>
          <p:spPr>
            <a:xfrm rot="0">
              <a:off x="1598267" y="379080"/>
              <a:ext cx="5503906" cy="600075"/>
            </a:xfrm>
            <a:prstGeom prst="rect">
              <a:avLst/>
            </a:prstGeom>
          </p:spPr>
          <p:txBody>
            <a:bodyPr anchor="t" rtlCol="false" tIns="0" lIns="0" bIns="0" rIns="0">
              <a:spAutoFit/>
            </a:bodyPr>
            <a:lstStyle/>
            <a:p>
              <a:pPr algn="l" marL="0" indent="0" lvl="0">
                <a:lnSpc>
                  <a:spcPts val="1875"/>
                </a:lnSpc>
                <a:spcBef>
                  <a:spcPct val="0"/>
                </a:spcBef>
              </a:pPr>
              <a:r>
                <a:rPr lang="en-US" sz="1250" u="none">
                  <a:solidFill>
                    <a:srgbClr val="1E1D1D"/>
                  </a:solidFill>
                  <a:latin typeface="Montserrat"/>
                  <a:ea typeface="Montserrat"/>
                  <a:cs typeface="Montserrat"/>
                  <a:sym typeface="Montserrat"/>
                  <a:hlinkClick r:id="rId2" tooltip="https://docs.google.com/spreadsheets/d/1DUF2isFWsqVSYhbaACYtbgcLi_YjDqpE3GLQIVgkKQg/edit#gid=69851113"/>
                </a:rPr>
                <a:t>Giải thích giá trị của nhược điểm mà bạn giảm bớt</a:t>
              </a:r>
            </a:p>
            <a:p>
              <a:pPr algn="l" marL="0" indent="0" lvl="0">
                <a:lnSpc>
                  <a:spcPts val="1875"/>
                </a:lnSpc>
                <a:spcBef>
                  <a:spcPct val="0"/>
                </a:spcBef>
              </a:pPr>
              <a:r>
                <a:rPr lang="en-US" sz="1250" u="none">
                  <a:solidFill>
                    <a:srgbClr val="1E1D1D"/>
                  </a:solidFill>
                  <a:latin typeface="Montserrat"/>
                  <a:ea typeface="Montserrat"/>
                  <a:cs typeface="Montserrat"/>
                  <a:sym typeface="Montserrat"/>
                  <a:hlinkClick r:id="rId3" tooltip="https://docs.google.com/spreadsheets/d/1DUF2isFWsqVSYhbaACYtbgcLi_YjDqpE3GLQIVgkKQg/edit#gid=69851113"/>
                </a:rPr>
                <a:t>hoặc giá trị của ưu điểm mà bạn mang lại.</a:t>
              </a:r>
            </a:p>
          </p:txBody>
        </p:sp>
        <p:sp>
          <p:nvSpPr>
            <p:cNvPr name="Freeform 19" id="19"/>
            <p:cNvSpPr/>
            <p:nvPr/>
          </p:nvSpPr>
          <p:spPr>
            <a:xfrm flipH="false" flipV="false" rot="0">
              <a:off x="464243" y="553206"/>
              <a:ext cx="747914" cy="799374"/>
            </a:xfrm>
            <a:custGeom>
              <a:avLst/>
              <a:gdLst/>
              <a:ahLst/>
              <a:cxnLst/>
              <a:rect r="r" b="b" t="t" l="l"/>
              <a:pathLst>
                <a:path h="799374" w="747914">
                  <a:moveTo>
                    <a:pt x="0" y="0"/>
                  </a:moveTo>
                  <a:lnTo>
                    <a:pt x="747914" y="0"/>
                  </a:lnTo>
                  <a:lnTo>
                    <a:pt x="747914" y="799374"/>
                  </a:lnTo>
                  <a:lnTo>
                    <a:pt x="0" y="799374"/>
                  </a:lnTo>
                  <a:lnTo>
                    <a:pt x="0" y="0"/>
                  </a:lnTo>
                  <a:close/>
                </a:path>
              </a:pathLst>
            </a:custGeom>
            <a:blipFill>
              <a:blip r:embed="rId4"/>
              <a:stretch>
                <a:fillRect l="0" t="0" r="0" b="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1E1D1D"/>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2714526" y="0"/>
            <a:ext cx="12503082" cy="10287000"/>
            <a:chOff x="0" y="0"/>
            <a:chExt cx="6184570" cy="5088399"/>
          </a:xfrm>
        </p:grpSpPr>
        <p:sp>
          <p:nvSpPr>
            <p:cNvPr name="Freeform 3" id="3"/>
            <p:cNvSpPr/>
            <p:nvPr/>
          </p:nvSpPr>
          <p:spPr>
            <a:xfrm flipH="false" flipV="false" rot="0">
              <a:off x="0" y="0"/>
              <a:ext cx="6184570" cy="5088399"/>
            </a:xfrm>
            <a:custGeom>
              <a:avLst/>
              <a:gdLst/>
              <a:ahLst/>
              <a:cxnLst/>
              <a:rect r="r" b="b" t="t" l="l"/>
              <a:pathLst>
                <a:path h="5088399" w="6184570">
                  <a:moveTo>
                    <a:pt x="2750917" y="2544200"/>
                  </a:moveTo>
                  <a:lnTo>
                    <a:pt x="0" y="5088399"/>
                  </a:lnTo>
                  <a:lnTo>
                    <a:pt x="3433653" y="5088399"/>
                  </a:lnTo>
                  <a:lnTo>
                    <a:pt x="6184570" y="2544200"/>
                  </a:lnTo>
                  <a:lnTo>
                    <a:pt x="3433653" y="0"/>
                  </a:lnTo>
                  <a:lnTo>
                    <a:pt x="0" y="0"/>
                  </a:lnTo>
                  <a:lnTo>
                    <a:pt x="2750917" y="2544200"/>
                  </a:lnTo>
                  <a:close/>
                </a:path>
              </a:pathLst>
            </a:custGeom>
            <a:solidFill>
              <a:srgbClr val="1E1D1D"/>
            </a:solidFill>
          </p:spPr>
        </p:sp>
        <p:sp>
          <p:nvSpPr>
            <p:cNvPr name="Freeform 4" id="4"/>
            <p:cNvSpPr/>
            <p:nvPr/>
          </p:nvSpPr>
          <p:spPr>
            <a:xfrm flipH="false" flipV="false" rot="0">
              <a:off x="0" y="0"/>
              <a:ext cx="6184570" cy="5088399"/>
            </a:xfrm>
            <a:custGeom>
              <a:avLst/>
              <a:gdLst/>
              <a:ahLst/>
              <a:cxnLst/>
              <a:rect r="r" b="b" t="t" l="l"/>
              <a:pathLst>
                <a:path h="5088399" w="6184570">
                  <a:moveTo>
                    <a:pt x="2750917" y="2544200"/>
                  </a:moveTo>
                  <a:lnTo>
                    <a:pt x="0" y="5088399"/>
                  </a:lnTo>
                  <a:lnTo>
                    <a:pt x="3433653" y="5088399"/>
                  </a:lnTo>
                  <a:lnTo>
                    <a:pt x="6184570" y="2544200"/>
                  </a:lnTo>
                  <a:lnTo>
                    <a:pt x="3433653" y="0"/>
                  </a:lnTo>
                  <a:lnTo>
                    <a:pt x="0" y="0"/>
                  </a:lnTo>
                  <a:lnTo>
                    <a:pt x="2750917" y="2544200"/>
                  </a:lnTo>
                  <a:close/>
                </a:path>
              </a:pathLst>
            </a:custGeom>
            <a:blipFill>
              <a:blip r:embed="rId2"/>
              <a:stretch>
                <a:fillRect l="-11803" t="0" r="-11803" b="0"/>
              </a:stretch>
            </a:blipFill>
          </p:spPr>
        </p:sp>
      </p:grpSp>
      <p:grpSp>
        <p:nvGrpSpPr>
          <p:cNvPr name="Group 5" id="5"/>
          <p:cNvGrpSpPr/>
          <p:nvPr/>
        </p:nvGrpSpPr>
        <p:grpSpPr>
          <a:xfrm rot="0">
            <a:off x="1028700" y="6819311"/>
            <a:ext cx="7489668" cy="2438989"/>
            <a:chOff x="0" y="0"/>
            <a:chExt cx="9986224" cy="3251986"/>
          </a:xfrm>
        </p:grpSpPr>
        <p:grpSp>
          <p:nvGrpSpPr>
            <p:cNvPr name="Group 6" id="6"/>
            <p:cNvGrpSpPr/>
            <p:nvPr/>
          </p:nvGrpSpPr>
          <p:grpSpPr>
            <a:xfrm rot="0">
              <a:off x="0" y="0"/>
              <a:ext cx="9986224" cy="3251986"/>
              <a:chOff x="0" y="0"/>
              <a:chExt cx="4885853" cy="1597461"/>
            </a:xfrm>
          </p:grpSpPr>
          <p:sp>
            <p:nvSpPr>
              <p:cNvPr name="Freeform 7" id="7"/>
              <p:cNvSpPr/>
              <p:nvPr/>
            </p:nvSpPr>
            <p:spPr>
              <a:xfrm flipH="false" flipV="false" rot="0">
                <a:off x="0" y="0"/>
                <a:ext cx="4885853" cy="1597461"/>
              </a:xfrm>
              <a:custGeom>
                <a:avLst/>
                <a:gdLst/>
                <a:ahLst/>
                <a:cxnLst/>
                <a:rect r="r" b="b" t="t" l="l"/>
                <a:pathLst>
                  <a:path h="1597461" w="4885853">
                    <a:moveTo>
                      <a:pt x="4761392" y="1597461"/>
                    </a:moveTo>
                    <a:lnTo>
                      <a:pt x="124460" y="1597461"/>
                    </a:lnTo>
                    <a:cubicBezTo>
                      <a:pt x="55880" y="1597461"/>
                      <a:pt x="0" y="1541581"/>
                      <a:pt x="0" y="1473001"/>
                    </a:cubicBezTo>
                    <a:lnTo>
                      <a:pt x="0" y="124460"/>
                    </a:lnTo>
                    <a:cubicBezTo>
                      <a:pt x="0" y="55880"/>
                      <a:pt x="55880" y="0"/>
                      <a:pt x="124460" y="0"/>
                    </a:cubicBezTo>
                    <a:lnTo>
                      <a:pt x="4761393" y="0"/>
                    </a:lnTo>
                    <a:cubicBezTo>
                      <a:pt x="4829973" y="0"/>
                      <a:pt x="4885853" y="55880"/>
                      <a:pt x="4885853" y="124460"/>
                    </a:cubicBezTo>
                    <a:lnTo>
                      <a:pt x="4885853" y="1473001"/>
                    </a:lnTo>
                    <a:cubicBezTo>
                      <a:pt x="4885853" y="1541581"/>
                      <a:pt x="4829973" y="1597461"/>
                      <a:pt x="4761393" y="1597461"/>
                    </a:cubicBezTo>
                    <a:close/>
                  </a:path>
                </a:pathLst>
              </a:custGeom>
              <a:solidFill>
                <a:srgbClr val="FAFAFA"/>
              </a:solidFill>
            </p:spPr>
          </p:sp>
        </p:grpSp>
        <p:sp>
          <p:nvSpPr>
            <p:cNvPr name="TextBox 8" id="8"/>
            <p:cNvSpPr txBox="true"/>
            <p:nvPr/>
          </p:nvSpPr>
          <p:spPr>
            <a:xfrm rot="0">
              <a:off x="1796560" y="2431997"/>
              <a:ext cx="7596533" cy="332105"/>
            </a:xfrm>
            <a:prstGeom prst="rect">
              <a:avLst/>
            </a:prstGeom>
          </p:spPr>
          <p:txBody>
            <a:bodyPr anchor="t" rtlCol="false" tIns="0" lIns="0" bIns="0" rIns="0">
              <a:spAutoFit/>
            </a:bodyPr>
            <a:lstStyle/>
            <a:p>
              <a:pPr algn="l">
                <a:lnSpc>
                  <a:spcPts val="2100"/>
                </a:lnSpc>
                <a:spcBef>
                  <a:spcPct val="0"/>
                </a:spcBef>
              </a:pPr>
              <a:r>
                <a:rPr lang="en-US" sz="1400" i="true">
                  <a:solidFill>
                    <a:srgbClr val="C22B23"/>
                  </a:solidFill>
                  <a:latin typeface="Montserrat Italics"/>
                  <a:ea typeface="Montserrat Italics"/>
                  <a:cs typeface="Montserrat Italics"/>
                  <a:sym typeface="Montserrat Italics"/>
                </a:rPr>
                <a:t>Vui lòng xóa ghi chú sau khi chỉnh sửa trang này.</a:t>
              </a:r>
            </a:p>
          </p:txBody>
        </p:sp>
        <p:sp>
          <p:nvSpPr>
            <p:cNvPr name="TextBox 9" id="9"/>
            <p:cNvSpPr txBox="true"/>
            <p:nvPr/>
          </p:nvSpPr>
          <p:spPr>
            <a:xfrm rot="0">
              <a:off x="1796560" y="459309"/>
              <a:ext cx="7596533" cy="1552575"/>
            </a:xfrm>
            <a:prstGeom prst="rect">
              <a:avLst/>
            </a:prstGeom>
          </p:spPr>
          <p:txBody>
            <a:bodyPr anchor="t" rtlCol="false" tIns="0" lIns="0" bIns="0" rIns="0">
              <a:spAutoFit/>
            </a:bodyPr>
            <a:lstStyle/>
            <a:p>
              <a:pPr algn="l" marL="0" indent="0" lvl="0">
                <a:lnSpc>
                  <a:spcPts val="1875"/>
                </a:lnSpc>
                <a:spcBef>
                  <a:spcPct val="0"/>
                </a:spcBef>
              </a:pPr>
              <a:r>
                <a:rPr lang="en-US" sz="1250" u="none">
                  <a:solidFill>
                    <a:srgbClr val="1E1D1D"/>
                  </a:solidFill>
                  <a:latin typeface="Montserrat"/>
                  <a:ea typeface="Montserrat"/>
                  <a:cs typeface="Montserrat"/>
                  <a:sym typeface="Montserrat"/>
                  <a:hlinkClick r:id="rId3" tooltip="https://docs.google.com/spreadsheets/d/1DUF2isFWsqVSYhbaACYtbgcLi_YjDqpE3GLQIVgkKQg/edit#gid=69851113"/>
                </a:rPr>
                <a:t>Mô tả công nghệ, bí quyết về chất lượng/quy trình hoặc điều kỳ diệu đằng sau sản phẩm của bạn. Càng ít chữ và càng nhiều sơ đồ, giản đồ và lưu đồ càng tốt. Nếu bạn có một nguyên mẫu hoặc bản demo, đây là lúc để chuyển sang sử dụng chúng. “Nếu một bức tranh có giá trị 1000 từ, thì một nguyên mẫu có giá trị 1.000 bức tranh”.</a:t>
              </a:r>
            </a:p>
          </p:txBody>
        </p:sp>
        <p:sp>
          <p:nvSpPr>
            <p:cNvPr name="Freeform 10" id="10"/>
            <p:cNvSpPr/>
            <p:nvPr/>
          </p:nvSpPr>
          <p:spPr>
            <a:xfrm flipH="false" flipV="false" rot="0">
              <a:off x="596856" y="1226306"/>
              <a:ext cx="747914" cy="799374"/>
            </a:xfrm>
            <a:custGeom>
              <a:avLst/>
              <a:gdLst/>
              <a:ahLst/>
              <a:cxnLst/>
              <a:rect r="r" b="b" t="t" l="l"/>
              <a:pathLst>
                <a:path h="799374" w="747914">
                  <a:moveTo>
                    <a:pt x="0" y="0"/>
                  </a:moveTo>
                  <a:lnTo>
                    <a:pt x="747914" y="0"/>
                  </a:lnTo>
                  <a:lnTo>
                    <a:pt x="747914" y="799374"/>
                  </a:lnTo>
                  <a:lnTo>
                    <a:pt x="0" y="799374"/>
                  </a:lnTo>
                  <a:lnTo>
                    <a:pt x="0" y="0"/>
                  </a:lnTo>
                  <a:close/>
                </a:path>
              </a:pathLst>
            </a:custGeom>
            <a:blipFill>
              <a:blip r:embed="rId4"/>
              <a:stretch>
                <a:fillRect l="0" t="0" r="0" b="0"/>
              </a:stretch>
            </a:blipFill>
          </p:spPr>
        </p:sp>
      </p:grpSp>
      <p:grpSp>
        <p:nvGrpSpPr>
          <p:cNvPr name="Group 11" id="11"/>
          <p:cNvGrpSpPr/>
          <p:nvPr/>
        </p:nvGrpSpPr>
        <p:grpSpPr>
          <a:xfrm rot="0">
            <a:off x="11561945" y="1028700"/>
            <a:ext cx="5697355" cy="4816475"/>
            <a:chOff x="0" y="0"/>
            <a:chExt cx="7596473" cy="6421967"/>
          </a:xfrm>
        </p:grpSpPr>
        <p:sp>
          <p:nvSpPr>
            <p:cNvPr name="TextBox 12" id="12"/>
            <p:cNvSpPr txBox="true"/>
            <p:nvPr/>
          </p:nvSpPr>
          <p:spPr>
            <a:xfrm rot="0">
              <a:off x="0" y="-9525"/>
              <a:ext cx="6341623" cy="1025525"/>
            </a:xfrm>
            <a:prstGeom prst="rect">
              <a:avLst/>
            </a:prstGeom>
          </p:spPr>
          <p:txBody>
            <a:bodyPr anchor="t" rtlCol="false" tIns="0" lIns="0" bIns="0" rIns="0">
              <a:spAutoFit/>
            </a:bodyPr>
            <a:lstStyle/>
            <a:p>
              <a:pPr algn="l" marL="0" indent="0" lvl="0">
                <a:lnSpc>
                  <a:spcPts val="6000"/>
                </a:lnSpc>
              </a:pPr>
              <a:r>
                <a:rPr lang="en-US" b="true" sz="5000" u="none">
                  <a:solidFill>
                    <a:srgbClr val="FAFAFA"/>
                  </a:solidFill>
                  <a:latin typeface="Saira ExtraCondensed Bold"/>
                  <a:ea typeface="Saira ExtraCondensed Bold"/>
                  <a:cs typeface="Saira ExtraCondensed Bold"/>
                  <a:sym typeface="Saira ExtraCondensed Bold"/>
                </a:rPr>
                <a:t>Trò chơi Sitwell</a:t>
              </a:r>
            </a:p>
          </p:txBody>
        </p:sp>
        <p:sp>
          <p:nvSpPr>
            <p:cNvPr name="TextBox 13" id="13"/>
            <p:cNvSpPr txBox="true"/>
            <p:nvPr/>
          </p:nvSpPr>
          <p:spPr>
            <a:xfrm rot="0">
              <a:off x="0" y="1073150"/>
              <a:ext cx="7596473" cy="2581487"/>
            </a:xfrm>
            <a:prstGeom prst="rect">
              <a:avLst/>
            </a:prstGeom>
          </p:spPr>
          <p:txBody>
            <a:bodyPr anchor="t" rtlCol="false" tIns="0" lIns="0" bIns="0" rIns="0">
              <a:spAutoFit/>
            </a:bodyPr>
            <a:lstStyle/>
            <a:p>
              <a:pPr algn="l">
                <a:lnSpc>
                  <a:spcPts val="7452"/>
                </a:lnSpc>
              </a:pPr>
              <a:r>
                <a:rPr lang="en-US" b="true" sz="6774" spc="67">
                  <a:solidFill>
                    <a:srgbClr val="C22B23"/>
                  </a:solidFill>
                  <a:latin typeface="Saira ExtraCondensed Heavy"/>
                  <a:ea typeface="Saira ExtraCondensed Heavy"/>
                  <a:cs typeface="Saira ExtraCondensed Heavy"/>
                  <a:sym typeface="Saira ExtraCondensed Heavy"/>
                </a:rPr>
                <a:t>Sản phẩm hoặc</a:t>
              </a:r>
            </a:p>
            <a:p>
              <a:pPr algn="l">
                <a:lnSpc>
                  <a:spcPts val="7452"/>
                </a:lnSpc>
              </a:pPr>
              <a:r>
                <a:rPr lang="en-US" b="true" sz="6774" spc="67">
                  <a:solidFill>
                    <a:srgbClr val="C22B23"/>
                  </a:solidFill>
                  <a:latin typeface="Saira ExtraCondensed Heavy"/>
                  <a:ea typeface="Saira ExtraCondensed Heavy"/>
                  <a:cs typeface="Saira ExtraCondensed Heavy"/>
                  <a:sym typeface="Saira ExtraCondensed Heavy"/>
                </a:rPr>
                <a:t>Dịch vụ của chúng tôi</a:t>
              </a:r>
            </a:p>
          </p:txBody>
        </p:sp>
      </p:grpSp>
      <p:sp>
        <p:nvSpPr>
          <p:cNvPr name="TextBox 14" id="14"/>
          <p:cNvSpPr txBox="true"/>
          <p:nvPr/>
        </p:nvSpPr>
        <p:spPr>
          <a:xfrm rot="0">
            <a:off x="11561945" y="7887970"/>
            <a:ext cx="4389269" cy="1370330"/>
          </a:xfrm>
          <a:prstGeom prst="rect">
            <a:avLst/>
          </a:prstGeom>
        </p:spPr>
        <p:txBody>
          <a:bodyPr anchor="t" rtlCol="false" tIns="0" lIns="0" bIns="0" rIns="0">
            <a:spAutoFit/>
          </a:bodyPr>
          <a:lstStyle/>
          <a:p>
            <a:pPr algn="l" marL="0" indent="0" lvl="0">
              <a:lnSpc>
                <a:spcPts val="3639"/>
              </a:lnSpc>
              <a:spcBef>
                <a:spcPct val="0"/>
              </a:spcBef>
            </a:pPr>
            <a:r>
              <a:rPr lang="en-US" sz="2799" u="none">
                <a:solidFill>
                  <a:srgbClr val="FAFAFA"/>
                </a:solidFill>
                <a:latin typeface="Montserrat"/>
                <a:ea typeface="Montserrat"/>
                <a:cs typeface="Montserrat"/>
                <a:sym typeface="Montserrat"/>
              </a:rPr>
              <a:t>Hãy trình bày ngắn gọn về những gì bạn muốn thảo luận.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C22B23"/>
        </a:solidFill>
      </p:bgPr>
    </p:bg>
    <p:spTree>
      <p:nvGrpSpPr>
        <p:cNvPr id="1" name=""/>
        <p:cNvGrpSpPr/>
        <p:nvPr/>
      </p:nvGrpSpPr>
      <p:grpSpPr>
        <a:xfrm>
          <a:off x="0" y="0"/>
          <a:ext cx="0" cy="0"/>
          <a:chOff x="0" y="0"/>
          <a:chExt cx="0" cy="0"/>
        </a:xfrm>
      </p:grpSpPr>
      <p:grpSp>
        <p:nvGrpSpPr>
          <p:cNvPr name="Group 2" id="2"/>
          <p:cNvGrpSpPr/>
          <p:nvPr/>
        </p:nvGrpSpPr>
        <p:grpSpPr>
          <a:xfrm rot="0">
            <a:off x="12105242" y="416923"/>
            <a:ext cx="5689975" cy="1651372"/>
            <a:chOff x="0" y="0"/>
            <a:chExt cx="7586633" cy="2201829"/>
          </a:xfrm>
        </p:grpSpPr>
        <p:grpSp>
          <p:nvGrpSpPr>
            <p:cNvPr name="Group 3" id="3"/>
            <p:cNvGrpSpPr/>
            <p:nvPr/>
          </p:nvGrpSpPr>
          <p:grpSpPr>
            <a:xfrm rot="0">
              <a:off x="0" y="0"/>
              <a:ext cx="7586633" cy="2201829"/>
              <a:chOff x="0" y="0"/>
              <a:chExt cx="3711830" cy="1081596"/>
            </a:xfrm>
          </p:grpSpPr>
          <p:sp>
            <p:nvSpPr>
              <p:cNvPr name="Freeform 4" id="4"/>
              <p:cNvSpPr/>
              <p:nvPr/>
            </p:nvSpPr>
            <p:spPr>
              <a:xfrm flipH="false" flipV="false" rot="0">
                <a:off x="0" y="0"/>
                <a:ext cx="3711830" cy="1081596"/>
              </a:xfrm>
              <a:custGeom>
                <a:avLst/>
                <a:gdLst/>
                <a:ahLst/>
                <a:cxnLst/>
                <a:rect r="r" b="b" t="t" l="l"/>
                <a:pathLst>
                  <a:path h="1081596" w="3711830">
                    <a:moveTo>
                      <a:pt x="3587370" y="1081596"/>
                    </a:moveTo>
                    <a:lnTo>
                      <a:pt x="124460" y="1081596"/>
                    </a:lnTo>
                    <a:cubicBezTo>
                      <a:pt x="55880" y="1081596"/>
                      <a:pt x="0" y="1025716"/>
                      <a:pt x="0" y="957136"/>
                    </a:cubicBezTo>
                    <a:lnTo>
                      <a:pt x="0" y="124460"/>
                    </a:lnTo>
                    <a:cubicBezTo>
                      <a:pt x="0" y="55880"/>
                      <a:pt x="55880" y="0"/>
                      <a:pt x="124460" y="0"/>
                    </a:cubicBezTo>
                    <a:lnTo>
                      <a:pt x="3587371" y="0"/>
                    </a:lnTo>
                    <a:cubicBezTo>
                      <a:pt x="3655950" y="0"/>
                      <a:pt x="3711830" y="55880"/>
                      <a:pt x="3711830" y="124460"/>
                    </a:cubicBezTo>
                    <a:lnTo>
                      <a:pt x="3711830" y="957136"/>
                    </a:lnTo>
                    <a:cubicBezTo>
                      <a:pt x="3711830" y="1025716"/>
                      <a:pt x="3655950" y="1081596"/>
                      <a:pt x="3587371" y="1081596"/>
                    </a:cubicBezTo>
                    <a:close/>
                  </a:path>
                </a:pathLst>
              </a:custGeom>
              <a:solidFill>
                <a:srgbClr val="FAFAFA"/>
              </a:solidFill>
            </p:spPr>
          </p:sp>
        </p:grpSp>
        <p:sp>
          <p:nvSpPr>
            <p:cNvPr name="TextBox 5" id="5"/>
            <p:cNvSpPr txBox="true"/>
            <p:nvPr/>
          </p:nvSpPr>
          <p:spPr>
            <a:xfrm rot="0">
              <a:off x="1499289" y="1507006"/>
              <a:ext cx="5684345" cy="307340"/>
            </a:xfrm>
            <a:prstGeom prst="rect">
              <a:avLst/>
            </a:prstGeom>
          </p:spPr>
          <p:txBody>
            <a:bodyPr anchor="t" rtlCol="false" tIns="0" lIns="0" bIns="0" rIns="0">
              <a:spAutoFit/>
            </a:bodyPr>
            <a:lstStyle/>
            <a:p>
              <a:pPr algn="l">
                <a:lnSpc>
                  <a:spcPts val="1987"/>
                </a:lnSpc>
                <a:spcBef>
                  <a:spcPct val="0"/>
                </a:spcBef>
              </a:pPr>
              <a:r>
                <a:rPr lang="en-US" sz="1325" i="true">
                  <a:solidFill>
                    <a:srgbClr val="C22B23"/>
                  </a:solidFill>
                  <a:latin typeface="Montserrat Italics"/>
                  <a:ea typeface="Montserrat Italics"/>
                  <a:cs typeface="Montserrat Italics"/>
                  <a:sym typeface="Montserrat Italics"/>
                </a:rPr>
                <a:t>Vui lòng xóa ghi chú sau khi chỉnh sửa trang này.</a:t>
              </a:r>
            </a:p>
          </p:txBody>
        </p:sp>
        <p:sp>
          <p:nvSpPr>
            <p:cNvPr name="TextBox 6" id="6"/>
            <p:cNvSpPr txBox="true"/>
            <p:nvPr/>
          </p:nvSpPr>
          <p:spPr>
            <a:xfrm rot="0">
              <a:off x="1491057" y="321930"/>
              <a:ext cx="5692578" cy="1043305"/>
            </a:xfrm>
            <a:prstGeom prst="rect">
              <a:avLst/>
            </a:prstGeom>
          </p:spPr>
          <p:txBody>
            <a:bodyPr anchor="t" rtlCol="false" tIns="0" lIns="0" bIns="0" rIns="0">
              <a:spAutoFit/>
            </a:bodyPr>
            <a:lstStyle/>
            <a:p>
              <a:pPr algn="l" marL="0" indent="0" lvl="0">
                <a:lnSpc>
                  <a:spcPts val="2100"/>
                </a:lnSpc>
                <a:spcBef>
                  <a:spcPct val="0"/>
                </a:spcBef>
              </a:pPr>
              <a:r>
                <a:rPr lang="en-US" sz="1400" u="none">
                  <a:solidFill>
                    <a:srgbClr val="1E1D1D"/>
                  </a:solidFill>
                  <a:latin typeface="Montserrat"/>
                  <a:ea typeface="Montserrat"/>
                  <a:cs typeface="Montserrat"/>
                  <a:sym typeface="Montserrat"/>
                  <a:hlinkClick r:id="rId2" tooltip="https://docs.google.com/spreadsheets/d/1DUF2isFWsqVSYhbaACYtbgcLi_YjDqpE3GLQIVgkKQg/edit#gid=69851113"/>
                </a:rPr>
                <a:t>Giải thích xem tạm thời ai giữ tiền của bạn và bạn sẽ làm thế nào để đưa tiền vào túi của mình.</a:t>
              </a:r>
            </a:p>
          </p:txBody>
        </p:sp>
        <p:sp>
          <p:nvSpPr>
            <p:cNvPr name="Freeform 7" id="7"/>
            <p:cNvSpPr/>
            <p:nvPr/>
          </p:nvSpPr>
          <p:spPr>
            <a:xfrm flipH="false" flipV="false" rot="0">
              <a:off x="417755" y="701228"/>
              <a:ext cx="747914" cy="799374"/>
            </a:xfrm>
            <a:custGeom>
              <a:avLst/>
              <a:gdLst/>
              <a:ahLst/>
              <a:cxnLst/>
              <a:rect r="r" b="b" t="t" l="l"/>
              <a:pathLst>
                <a:path h="799374" w="747914">
                  <a:moveTo>
                    <a:pt x="0" y="0"/>
                  </a:moveTo>
                  <a:lnTo>
                    <a:pt x="747914" y="0"/>
                  </a:lnTo>
                  <a:lnTo>
                    <a:pt x="747914" y="799374"/>
                  </a:lnTo>
                  <a:lnTo>
                    <a:pt x="0" y="799374"/>
                  </a:lnTo>
                  <a:lnTo>
                    <a:pt x="0" y="0"/>
                  </a:lnTo>
                  <a:close/>
                </a:path>
              </a:pathLst>
            </a:custGeom>
            <a:blipFill>
              <a:blip r:embed="rId3"/>
              <a:stretch>
                <a:fillRect l="0" t="0" r="0" b="0"/>
              </a:stretch>
            </a:blipFill>
          </p:spPr>
        </p:sp>
      </p:grpSp>
      <p:grpSp>
        <p:nvGrpSpPr>
          <p:cNvPr name="Group 8" id="8"/>
          <p:cNvGrpSpPr/>
          <p:nvPr/>
        </p:nvGrpSpPr>
        <p:grpSpPr>
          <a:xfrm rot="0">
            <a:off x="1028700" y="4021193"/>
            <a:ext cx="4653772" cy="1128657"/>
            <a:chOff x="0" y="0"/>
            <a:chExt cx="6205029" cy="1504876"/>
          </a:xfrm>
        </p:grpSpPr>
        <p:sp>
          <p:nvSpPr>
            <p:cNvPr name="AutoShape 9" id="9"/>
            <p:cNvSpPr/>
            <p:nvPr/>
          </p:nvSpPr>
          <p:spPr>
            <a:xfrm rot="0">
              <a:off x="0" y="0"/>
              <a:ext cx="6205029" cy="1504876"/>
            </a:xfrm>
            <a:prstGeom prst="rect">
              <a:avLst/>
            </a:prstGeom>
            <a:solidFill>
              <a:srgbClr val="1E1D1D"/>
            </a:solidFill>
          </p:spPr>
        </p:sp>
        <p:sp>
          <p:nvSpPr>
            <p:cNvPr name="TextBox 10" id="10"/>
            <p:cNvSpPr txBox="true"/>
            <p:nvPr/>
          </p:nvSpPr>
          <p:spPr>
            <a:xfrm rot="0">
              <a:off x="580773" y="234913"/>
              <a:ext cx="5094957" cy="1025525"/>
            </a:xfrm>
            <a:prstGeom prst="rect">
              <a:avLst/>
            </a:prstGeom>
          </p:spPr>
          <p:txBody>
            <a:bodyPr anchor="t" rtlCol="false" tIns="0" lIns="0" bIns="0" rIns="0">
              <a:spAutoFit/>
            </a:bodyPr>
            <a:lstStyle/>
            <a:p>
              <a:pPr algn="ctr" marL="0" indent="0" lvl="0">
                <a:lnSpc>
                  <a:spcPts val="6000"/>
                </a:lnSpc>
              </a:pPr>
              <a:r>
                <a:rPr lang="en-US" b="true" sz="5000" u="none">
                  <a:solidFill>
                    <a:srgbClr val="FAFAFA"/>
                  </a:solidFill>
                  <a:latin typeface="Saira ExtraCondensed Bold"/>
                  <a:ea typeface="Saira ExtraCondensed Bold"/>
                  <a:cs typeface="Saira ExtraCondensed Bold"/>
                  <a:sym typeface="Saira ExtraCondensed Bold"/>
                </a:rPr>
                <a:t>12,3 tỷ VNĐ</a:t>
              </a:r>
            </a:p>
          </p:txBody>
        </p:sp>
      </p:grpSp>
      <p:grpSp>
        <p:nvGrpSpPr>
          <p:cNvPr name="Group 11" id="11"/>
          <p:cNvGrpSpPr/>
          <p:nvPr/>
        </p:nvGrpSpPr>
        <p:grpSpPr>
          <a:xfrm rot="0">
            <a:off x="6826022" y="4021193"/>
            <a:ext cx="4653772" cy="1128657"/>
            <a:chOff x="0" y="0"/>
            <a:chExt cx="6205029" cy="1504876"/>
          </a:xfrm>
        </p:grpSpPr>
        <p:sp>
          <p:nvSpPr>
            <p:cNvPr name="AutoShape 12" id="12"/>
            <p:cNvSpPr/>
            <p:nvPr/>
          </p:nvSpPr>
          <p:spPr>
            <a:xfrm rot="0">
              <a:off x="0" y="0"/>
              <a:ext cx="6205029" cy="1504876"/>
            </a:xfrm>
            <a:prstGeom prst="rect">
              <a:avLst/>
            </a:prstGeom>
            <a:solidFill>
              <a:srgbClr val="1E1D1D"/>
            </a:solidFill>
          </p:spPr>
        </p:sp>
        <p:sp>
          <p:nvSpPr>
            <p:cNvPr name="TextBox 13" id="13"/>
            <p:cNvSpPr txBox="true"/>
            <p:nvPr/>
          </p:nvSpPr>
          <p:spPr>
            <a:xfrm rot="0">
              <a:off x="555036" y="234913"/>
              <a:ext cx="5094957" cy="1025525"/>
            </a:xfrm>
            <a:prstGeom prst="rect">
              <a:avLst/>
            </a:prstGeom>
          </p:spPr>
          <p:txBody>
            <a:bodyPr anchor="t" rtlCol="false" tIns="0" lIns="0" bIns="0" rIns="0">
              <a:spAutoFit/>
            </a:bodyPr>
            <a:lstStyle/>
            <a:p>
              <a:pPr algn="ctr" marL="0" indent="0" lvl="0">
                <a:lnSpc>
                  <a:spcPts val="6000"/>
                </a:lnSpc>
              </a:pPr>
              <a:r>
                <a:rPr lang="en-US" b="true" sz="5000" u="none">
                  <a:solidFill>
                    <a:srgbClr val="FAFAFA"/>
                  </a:solidFill>
                  <a:latin typeface="Saira ExtraCondensed Bold"/>
                  <a:ea typeface="Saira ExtraCondensed Bold"/>
                  <a:cs typeface="Saira ExtraCondensed Bold"/>
                  <a:sym typeface="Saira ExtraCondensed Bold"/>
                </a:rPr>
                <a:t>123,456,789</a:t>
              </a:r>
            </a:p>
          </p:txBody>
        </p:sp>
      </p:grpSp>
      <p:grpSp>
        <p:nvGrpSpPr>
          <p:cNvPr name="Group 14" id="14"/>
          <p:cNvGrpSpPr/>
          <p:nvPr/>
        </p:nvGrpSpPr>
        <p:grpSpPr>
          <a:xfrm rot="0">
            <a:off x="12623343" y="4021193"/>
            <a:ext cx="4653772" cy="1128657"/>
            <a:chOff x="0" y="0"/>
            <a:chExt cx="6205029" cy="1504876"/>
          </a:xfrm>
        </p:grpSpPr>
        <p:sp>
          <p:nvSpPr>
            <p:cNvPr name="AutoShape 15" id="15"/>
            <p:cNvSpPr/>
            <p:nvPr/>
          </p:nvSpPr>
          <p:spPr>
            <a:xfrm rot="0">
              <a:off x="0" y="0"/>
              <a:ext cx="6205029" cy="1504876"/>
            </a:xfrm>
            <a:prstGeom prst="rect">
              <a:avLst/>
            </a:prstGeom>
            <a:solidFill>
              <a:srgbClr val="1E1D1D"/>
            </a:solidFill>
          </p:spPr>
        </p:sp>
        <p:sp>
          <p:nvSpPr>
            <p:cNvPr name="TextBox 16" id="16"/>
            <p:cNvSpPr txBox="true"/>
            <p:nvPr/>
          </p:nvSpPr>
          <p:spPr>
            <a:xfrm rot="0">
              <a:off x="555036" y="234913"/>
              <a:ext cx="5094957" cy="1025525"/>
            </a:xfrm>
            <a:prstGeom prst="rect">
              <a:avLst/>
            </a:prstGeom>
          </p:spPr>
          <p:txBody>
            <a:bodyPr anchor="t" rtlCol="false" tIns="0" lIns="0" bIns="0" rIns="0">
              <a:spAutoFit/>
            </a:bodyPr>
            <a:lstStyle/>
            <a:p>
              <a:pPr algn="ctr" marL="0" indent="0" lvl="0">
                <a:lnSpc>
                  <a:spcPts val="6000"/>
                </a:lnSpc>
              </a:pPr>
              <a:r>
                <a:rPr lang="en-US" b="true" sz="5000" u="none">
                  <a:solidFill>
                    <a:srgbClr val="FAFAFA"/>
                  </a:solidFill>
                  <a:latin typeface="Saira ExtraCondensed Bold"/>
                  <a:ea typeface="Saira ExtraCondensed Bold"/>
                  <a:cs typeface="Saira ExtraCondensed Bold"/>
                  <a:sym typeface="Saira ExtraCondensed Bold"/>
                </a:rPr>
                <a:t>45,6 tỷ VNĐ</a:t>
              </a:r>
            </a:p>
          </p:txBody>
        </p:sp>
      </p:grpSp>
      <p:sp>
        <p:nvSpPr>
          <p:cNvPr name="TextBox 17" id="17"/>
          <p:cNvSpPr txBox="true"/>
          <p:nvPr/>
        </p:nvSpPr>
        <p:spPr>
          <a:xfrm rot="0">
            <a:off x="1028700" y="1219200"/>
            <a:ext cx="11076542" cy="1333500"/>
          </a:xfrm>
          <a:prstGeom prst="rect">
            <a:avLst/>
          </a:prstGeom>
        </p:spPr>
        <p:txBody>
          <a:bodyPr anchor="t" rtlCol="false" tIns="0" lIns="0" bIns="0" rIns="0">
            <a:spAutoFit/>
          </a:bodyPr>
          <a:lstStyle/>
          <a:p>
            <a:pPr algn="l">
              <a:lnSpc>
                <a:spcPts val="9999"/>
              </a:lnSpc>
            </a:pPr>
            <a:r>
              <a:rPr lang="en-US" b="true" sz="9999" spc="99">
                <a:solidFill>
                  <a:srgbClr val="FAFAFA"/>
                </a:solidFill>
                <a:latin typeface="Saira ExtraCondensed Heavy"/>
                <a:ea typeface="Saira ExtraCondensed Heavy"/>
                <a:cs typeface="Saira ExtraCondensed Heavy"/>
                <a:sym typeface="Saira ExtraCondensed Heavy"/>
              </a:rPr>
              <a:t>Mô hình Kinh doanh</a:t>
            </a:r>
          </a:p>
        </p:txBody>
      </p:sp>
      <p:grpSp>
        <p:nvGrpSpPr>
          <p:cNvPr name="Group 18" id="18"/>
          <p:cNvGrpSpPr/>
          <p:nvPr/>
        </p:nvGrpSpPr>
        <p:grpSpPr>
          <a:xfrm rot="0">
            <a:off x="6826022" y="6826012"/>
            <a:ext cx="4653772" cy="1737288"/>
            <a:chOff x="0" y="0"/>
            <a:chExt cx="6205029" cy="2316384"/>
          </a:xfrm>
        </p:grpSpPr>
        <p:sp>
          <p:nvSpPr>
            <p:cNvPr name="TextBox 19" id="19"/>
            <p:cNvSpPr txBox="true"/>
            <p:nvPr/>
          </p:nvSpPr>
          <p:spPr>
            <a:xfrm rot="0">
              <a:off x="0" y="-38100"/>
              <a:ext cx="6205029" cy="728980"/>
            </a:xfrm>
            <a:prstGeom prst="rect">
              <a:avLst/>
            </a:prstGeom>
          </p:spPr>
          <p:txBody>
            <a:bodyPr anchor="t" rtlCol="false" tIns="0" lIns="0" bIns="0" rIns="0">
              <a:spAutoFit/>
            </a:bodyPr>
            <a:lstStyle/>
            <a:p>
              <a:pPr algn="l">
                <a:lnSpc>
                  <a:spcPts val="4420"/>
                </a:lnSpc>
              </a:pPr>
              <a:r>
                <a:rPr lang="en-US" b="true" sz="3400">
                  <a:solidFill>
                    <a:srgbClr val="FAFAFA"/>
                  </a:solidFill>
                  <a:latin typeface="Montserrat Medium"/>
                  <a:ea typeface="Montserrat Medium"/>
                  <a:cs typeface="Montserrat Medium"/>
                  <a:sym typeface="Montserrat Medium"/>
                </a:rPr>
                <a:t>Chủ đề 2</a:t>
              </a:r>
            </a:p>
          </p:txBody>
        </p:sp>
        <p:sp>
          <p:nvSpPr>
            <p:cNvPr name="TextBox 20" id="20"/>
            <p:cNvSpPr txBox="true"/>
            <p:nvPr/>
          </p:nvSpPr>
          <p:spPr>
            <a:xfrm rot="0">
              <a:off x="0" y="1116023"/>
              <a:ext cx="6205029" cy="1023408"/>
            </a:xfrm>
            <a:prstGeom prst="rect">
              <a:avLst/>
            </a:prstGeom>
          </p:spPr>
          <p:txBody>
            <a:bodyPr anchor="t" rtlCol="false" tIns="0" lIns="0" bIns="0" rIns="0">
              <a:spAutoFit/>
            </a:bodyPr>
            <a:lstStyle/>
            <a:p>
              <a:pPr algn="l" marL="0" indent="0" lvl="0">
                <a:lnSpc>
                  <a:spcPts val="3054"/>
                </a:lnSpc>
                <a:spcBef>
                  <a:spcPct val="0"/>
                </a:spcBef>
              </a:pPr>
              <a:r>
                <a:rPr lang="en-US" sz="2349" u="none">
                  <a:solidFill>
                    <a:srgbClr val="FAFAFA"/>
                  </a:solidFill>
                  <a:latin typeface="Montserrat"/>
                  <a:ea typeface="Montserrat"/>
                  <a:cs typeface="Montserrat"/>
                  <a:sym typeface="Montserrat"/>
                </a:rPr>
                <a:t>Hãy trình bày ngắn gọn về những gì bạn muốn thảo luận.</a:t>
              </a:r>
            </a:p>
          </p:txBody>
        </p:sp>
      </p:grpSp>
      <p:grpSp>
        <p:nvGrpSpPr>
          <p:cNvPr name="Group 21" id="21"/>
          <p:cNvGrpSpPr/>
          <p:nvPr/>
        </p:nvGrpSpPr>
        <p:grpSpPr>
          <a:xfrm rot="0">
            <a:off x="1028700" y="6826012"/>
            <a:ext cx="4653772" cy="1737288"/>
            <a:chOff x="0" y="0"/>
            <a:chExt cx="6205029" cy="2316384"/>
          </a:xfrm>
        </p:grpSpPr>
        <p:sp>
          <p:nvSpPr>
            <p:cNvPr name="TextBox 22" id="22"/>
            <p:cNvSpPr txBox="true"/>
            <p:nvPr/>
          </p:nvSpPr>
          <p:spPr>
            <a:xfrm rot="0">
              <a:off x="0" y="-38100"/>
              <a:ext cx="6205029" cy="728980"/>
            </a:xfrm>
            <a:prstGeom prst="rect">
              <a:avLst/>
            </a:prstGeom>
          </p:spPr>
          <p:txBody>
            <a:bodyPr anchor="t" rtlCol="false" tIns="0" lIns="0" bIns="0" rIns="0">
              <a:spAutoFit/>
            </a:bodyPr>
            <a:lstStyle/>
            <a:p>
              <a:pPr algn="l">
                <a:lnSpc>
                  <a:spcPts val="4420"/>
                </a:lnSpc>
              </a:pPr>
              <a:r>
                <a:rPr lang="en-US" b="true" sz="3400">
                  <a:solidFill>
                    <a:srgbClr val="FAFAFA"/>
                  </a:solidFill>
                  <a:latin typeface="Montserrat Medium"/>
                  <a:ea typeface="Montserrat Medium"/>
                  <a:cs typeface="Montserrat Medium"/>
                  <a:sym typeface="Montserrat Medium"/>
                </a:rPr>
                <a:t>Chủ đề 1</a:t>
              </a:r>
            </a:p>
          </p:txBody>
        </p:sp>
        <p:sp>
          <p:nvSpPr>
            <p:cNvPr name="TextBox 23" id="23"/>
            <p:cNvSpPr txBox="true"/>
            <p:nvPr/>
          </p:nvSpPr>
          <p:spPr>
            <a:xfrm rot="0">
              <a:off x="0" y="1116023"/>
              <a:ext cx="6205029" cy="1023408"/>
            </a:xfrm>
            <a:prstGeom prst="rect">
              <a:avLst/>
            </a:prstGeom>
          </p:spPr>
          <p:txBody>
            <a:bodyPr anchor="t" rtlCol="false" tIns="0" lIns="0" bIns="0" rIns="0">
              <a:spAutoFit/>
            </a:bodyPr>
            <a:lstStyle/>
            <a:p>
              <a:pPr algn="l" marL="0" indent="0" lvl="0">
                <a:lnSpc>
                  <a:spcPts val="3054"/>
                </a:lnSpc>
                <a:spcBef>
                  <a:spcPct val="0"/>
                </a:spcBef>
              </a:pPr>
              <a:r>
                <a:rPr lang="en-US" sz="2349" u="none">
                  <a:solidFill>
                    <a:srgbClr val="FAFAFA"/>
                  </a:solidFill>
                  <a:latin typeface="Montserrat"/>
                  <a:ea typeface="Montserrat"/>
                  <a:cs typeface="Montserrat"/>
                  <a:sym typeface="Montserrat"/>
                </a:rPr>
                <a:t>Hãy trình bày ngắn gọn về những gì bạn muốn thảo luận.</a:t>
              </a:r>
            </a:p>
          </p:txBody>
        </p:sp>
      </p:grpSp>
      <p:grpSp>
        <p:nvGrpSpPr>
          <p:cNvPr name="Group 24" id="24"/>
          <p:cNvGrpSpPr/>
          <p:nvPr/>
        </p:nvGrpSpPr>
        <p:grpSpPr>
          <a:xfrm rot="0">
            <a:off x="12623343" y="6826012"/>
            <a:ext cx="4653772" cy="1737288"/>
            <a:chOff x="0" y="0"/>
            <a:chExt cx="6205029" cy="2316384"/>
          </a:xfrm>
        </p:grpSpPr>
        <p:sp>
          <p:nvSpPr>
            <p:cNvPr name="TextBox 25" id="25"/>
            <p:cNvSpPr txBox="true"/>
            <p:nvPr/>
          </p:nvSpPr>
          <p:spPr>
            <a:xfrm rot="0">
              <a:off x="0" y="-38100"/>
              <a:ext cx="6205029" cy="728980"/>
            </a:xfrm>
            <a:prstGeom prst="rect">
              <a:avLst/>
            </a:prstGeom>
          </p:spPr>
          <p:txBody>
            <a:bodyPr anchor="t" rtlCol="false" tIns="0" lIns="0" bIns="0" rIns="0">
              <a:spAutoFit/>
            </a:bodyPr>
            <a:lstStyle/>
            <a:p>
              <a:pPr algn="l">
                <a:lnSpc>
                  <a:spcPts val="4420"/>
                </a:lnSpc>
              </a:pPr>
              <a:r>
                <a:rPr lang="en-US" b="true" sz="3400">
                  <a:solidFill>
                    <a:srgbClr val="FAFAFA"/>
                  </a:solidFill>
                  <a:latin typeface="Montserrat Medium"/>
                  <a:ea typeface="Montserrat Medium"/>
                  <a:cs typeface="Montserrat Medium"/>
                  <a:sym typeface="Montserrat Medium"/>
                </a:rPr>
                <a:t>Chủ đề 3</a:t>
              </a:r>
            </a:p>
          </p:txBody>
        </p:sp>
        <p:sp>
          <p:nvSpPr>
            <p:cNvPr name="TextBox 26" id="26"/>
            <p:cNvSpPr txBox="true"/>
            <p:nvPr/>
          </p:nvSpPr>
          <p:spPr>
            <a:xfrm rot="0">
              <a:off x="0" y="1116023"/>
              <a:ext cx="6205029" cy="1023408"/>
            </a:xfrm>
            <a:prstGeom prst="rect">
              <a:avLst/>
            </a:prstGeom>
          </p:spPr>
          <p:txBody>
            <a:bodyPr anchor="t" rtlCol="false" tIns="0" lIns="0" bIns="0" rIns="0">
              <a:spAutoFit/>
            </a:bodyPr>
            <a:lstStyle/>
            <a:p>
              <a:pPr algn="l" marL="0" indent="0" lvl="0">
                <a:lnSpc>
                  <a:spcPts val="3054"/>
                </a:lnSpc>
                <a:spcBef>
                  <a:spcPct val="0"/>
                </a:spcBef>
              </a:pPr>
              <a:r>
                <a:rPr lang="en-US" sz="2349" u="none">
                  <a:solidFill>
                    <a:srgbClr val="FAFAFA"/>
                  </a:solidFill>
                  <a:latin typeface="Montserrat"/>
                  <a:ea typeface="Montserrat"/>
                  <a:cs typeface="Montserrat"/>
                  <a:sym typeface="Montserrat"/>
                </a:rPr>
                <a:t>Hãy trình bày ngắn gọn về những gì bạn muốn thảo luận.</a:t>
              </a:r>
            </a:p>
          </p:txBody>
        </p:sp>
      </p:grpSp>
      <p:sp>
        <p:nvSpPr>
          <p:cNvPr name="AutoShape 27" id="27"/>
          <p:cNvSpPr/>
          <p:nvPr/>
        </p:nvSpPr>
        <p:spPr>
          <a:xfrm rot="-5400000">
            <a:off x="3631240" y="6634984"/>
            <a:ext cx="5237107" cy="0"/>
          </a:xfrm>
          <a:prstGeom prst="line">
            <a:avLst/>
          </a:prstGeom>
          <a:ln cap="flat" w="9525">
            <a:solidFill>
              <a:srgbClr val="FAFAFA"/>
            </a:solidFill>
            <a:prstDash val="solid"/>
            <a:headEnd type="none" len="sm" w="sm"/>
            <a:tailEnd type="none" len="sm" w="sm"/>
          </a:ln>
        </p:spPr>
      </p:sp>
      <p:sp>
        <p:nvSpPr>
          <p:cNvPr name="AutoShape 28" id="28"/>
          <p:cNvSpPr/>
          <p:nvPr/>
        </p:nvSpPr>
        <p:spPr>
          <a:xfrm rot="-5400000">
            <a:off x="9481926" y="6634984"/>
            <a:ext cx="5237107" cy="0"/>
          </a:xfrm>
          <a:prstGeom prst="line">
            <a:avLst/>
          </a:prstGeom>
          <a:ln cap="flat" w="9525">
            <a:solidFill>
              <a:srgbClr val="FAFAFA"/>
            </a:solidFill>
            <a:prstDash val="solid"/>
            <a:headEnd type="none" len="sm" w="sm"/>
            <a:tailEnd type="none" len="sm" w="sm"/>
          </a:ln>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1E1D1D"/>
        </a:solidFill>
      </p:bgPr>
    </p:bg>
    <p:spTree>
      <p:nvGrpSpPr>
        <p:cNvPr id="1" name=""/>
        <p:cNvGrpSpPr/>
        <p:nvPr/>
      </p:nvGrpSpPr>
      <p:grpSpPr>
        <a:xfrm>
          <a:off x="0" y="0"/>
          <a:ext cx="0" cy="0"/>
          <a:chOff x="0" y="0"/>
          <a:chExt cx="0" cy="0"/>
        </a:xfrm>
      </p:grpSpPr>
      <p:sp>
        <p:nvSpPr>
          <p:cNvPr name="AutoShape 2" id="2"/>
          <p:cNvSpPr/>
          <p:nvPr/>
        </p:nvSpPr>
        <p:spPr>
          <a:xfrm rot="661931">
            <a:off x="9428988" y="-1663404"/>
            <a:ext cx="10860861" cy="13613809"/>
          </a:xfrm>
          <a:prstGeom prst="rect">
            <a:avLst/>
          </a:prstGeom>
          <a:solidFill>
            <a:srgbClr val="FAFAFA"/>
          </a:solidFill>
        </p:spPr>
      </p:sp>
      <p:pic>
        <p:nvPicPr>
          <p:cNvPr name="Picture 3" id="3"/>
          <p:cNvPicPr>
            <a:picLocks noChangeAspect="true"/>
          </p:cNvPicPr>
          <p:nvPr/>
        </p:nvPicPr>
        <p:blipFill>
          <a:blip r:embed="rId2"/>
          <a:stretch>
            <a:fillRect/>
          </a:stretch>
        </p:blipFill>
        <p:spPr>
          <a:xfrm rot="0">
            <a:off x="10493198" y="1228801"/>
            <a:ext cx="7320886" cy="7829398"/>
          </a:xfrm>
          <a:prstGeom prst="rect">
            <a:avLst/>
          </a:prstGeom>
        </p:spPr>
      </p:pic>
      <p:grpSp>
        <p:nvGrpSpPr>
          <p:cNvPr name="Group 4" id="4"/>
          <p:cNvGrpSpPr/>
          <p:nvPr/>
        </p:nvGrpSpPr>
        <p:grpSpPr>
          <a:xfrm rot="0">
            <a:off x="1028700" y="7886111"/>
            <a:ext cx="5967261" cy="1372189"/>
            <a:chOff x="0" y="0"/>
            <a:chExt cx="7956347" cy="1829586"/>
          </a:xfrm>
        </p:grpSpPr>
        <p:grpSp>
          <p:nvGrpSpPr>
            <p:cNvPr name="Group 5" id="5"/>
            <p:cNvGrpSpPr/>
            <p:nvPr/>
          </p:nvGrpSpPr>
          <p:grpSpPr>
            <a:xfrm rot="0">
              <a:off x="0" y="0"/>
              <a:ext cx="7956347" cy="1829586"/>
              <a:chOff x="0" y="0"/>
              <a:chExt cx="3892717" cy="898741"/>
            </a:xfrm>
          </p:grpSpPr>
          <p:sp>
            <p:nvSpPr>
              <p:cNvPr name="Freeform 6" id="6"/>
              <p:cNvSpPr/>
              <p:nvPr/>
            </p:nvSpPr>
            <p:spPr>
              <a:xfrm flipH="false" flipV="false" rot="0">
                <a:off x="0" y="0"/>
                <a:ext cx="3892717" cy="898741"/>
              </a:xfrm>
              <a:custGeom>
                <a:avLst/>
                <a:gdLst/>
                <a:ahLst/>
                <a:cxnLst/>
                <a:rect r="r" b="b" t="t" l="l"/>
                <a:pathLst>
                  <a:path h="898741" w="3892717">
                    <a:moveTo>
                      <a:pt x="3768256" y="898741"/>
                    </a:moveTo>
                    <a:lnTo>
                      <a:pt x="124460" y="898741"/>
                    </a:lnTo>
                    <a:cubicBezTo>
                      <a:pt x="55880" y="898741"/>
                      <a:pt x="0" y="842861"/>
                      <a:pt x="0" y="774281"/>
                    </a:cubicBezTo>
                    <a:lnTo>
                      <a:pt x="0" y="124460"/>
                    </a:lnTo>
                    <a:cubicBezTo>
                      <a:pt x="0" y="55880"/>
                      <a:pt x="55880" y="0"/>
                      <a:pt x="124460" y="0"/>
                    </a:cubicBezTo>
                    <a:lnTo>
                      <a:pt x="3768257" y="0"/>
                    </a:lnTo>
                    <a:cubicBezTo>
                      <a:pt x="3836837" y="0"/>
                      <a:pt x="3892717" y="55880"/>
                      <a:pt x="3892717" y="124460"/>
                    </a:cubicBezTo>
                    <a:lnTo>
                      <a:pt x="3892717" y="774281"/>
                    </a:lnTo>
                    <a:cubicBezTo>
                      <a:pt x="3892717" y="842861"/>
                      <a:pt x="3836837" y="898741"/>
                      <a:pt x="3768257" y="898741"/>
                    </a:cubicBezTo>
                    <a:close/>
                  </a:path>
                </a:pathLst>
              </a:custGeom>
              <a:solidFill>
                <a:srgbClr val="FAFAFA"/>
              </a:solidFill>
            </p:spPr>
          </p:sp>
        </p:grpSp>
        <p:sp>
          <p:nvSpPr>
            <p:cNvPr name="TextBox 7" id="7"/>
            <p:cNvSpPr txBox="true"/>
            <p:nvPr/>
          </p:nvSpPr>
          <p:spPr>
            <a:xfrm rot="0">
              <a:off x="1395067" y="1188251"/>
              <a:ext cx="5901925" cy="307340"/>
            </a:xfrm>
            <a:prstGeom prst="rect">
              <a:avLst/>
            </a:prstGeom>
          </p:spPr>
          <p:txBody>
            <a:bodyPr anchor="t" rtlCol="false" tIns="0" lIns="0" bIns="0" rIns="0">
              <a:spAutoFit/>
            </a:bodyPr>
            <a:lstStyle/>
            <a:p>
              <a:pPr algn="l">
                <a:lnSpc>
                  <a:spcPts val="1987"/>
                </a:lnSpc>
                <a:spcBef>
                  <a:spcPct val="0"/>
                </a:spcBef>
              </a:pPr>
              <a:r>
                <a:rPr lang="en-US" sz="1325" i="true">
                  <a:solidFill>
                    <a:srgbClr val="C22B23"/>
                  </a:solidFill>
                  <a:latin typeface="Montserrat Italics"/>
                  <a:ea typeface="Montserrat Italics"/>
                  <a:cs typeface="Montserrat Italics"/>
                  <a:sym typeface="Montserrat Italics"/>
                </a:rPr>
                <a:t>Vui lòng xóa ghi chú sau khi chỉnh sửa trang này.</a:t>
              </a:r>
            </a:p>
          </p:txBody>
        </p:sp>
        <p:sp>
          <p:nvSpPr>
            <p:cNvPr name="TextBox 8" id="8"/>
            <p:cNvSpPr txBox="true"/>
            <p:nvPr/>
          </p:nvSpPr>
          <p:spPr>
            <a:xfrm rot="0">
              <a:off x="1395067" y="321930"/>
              <a:ext cx="5901925" cy="687705"/>
            </a:xfrm>
            <a:prstGeom prst="rect">
              <a:avLst/>
            </a:prstGeom>
          </p:spPr>
          <p:txBody>
            <a:bodyPr anchor="t" rtlCol="false" tIns="0" lIns="0" bIns="0" rIns="0">
              <a:spAutoFit/>
            </a:bodyPr>
            <a:lstStyle/>
            <a:p>
              <a:pPr algn="l" marL="0" indent="0" lvl="0">
                <a:lnSpc>
                  <a:spcPts val="2100"/>
                </a:lnSpc>
                <a:spcBef>
                  <a:spcPct val="0"/>
                </a:spcBef>
              </a:pPr>
              <a:r>
                <a:rPr lang="en-US" sz="1400" u="none">
                  <a:solidFill>
                    <a:srgbClr val="1E1D1D"/>
                  </a:solidFill>
                  <a:latin typeface="Montserrat"/>
                  <a:ea typeface="Montserrat"/>
                  <a:cs typeface="Montserrat"/>
                  <a:sym typeface="Montserrat"/>
                  <a:hlinkClick r:id="rId3" tooltip="https://docs.google.com/spreadsheets/d/1DUF2isFWsqVSYhbaACYtbgcLi_YjDqpE3GLQIVgkKQg/edit#gid=69851113"/>
                </a:rPr>
                <a:t>Giải thích cách bạn sẽ tiếp cận khách hàng của mình mà không bị phá vỡ ngân sách.</a:t>
              </a:r>
            </a:p>
          </p:txBody>
        </p:sp>
        <p:sp>
          <p:nvSpPr>
            <p:cNvPr name="Freeform 9" id="9"/>
            <p:cNvSpPr/>
            <p:nvPr/>
          </p:nvSpPr>
          <p:spPr>
            <a:xfrm flipH="false" flipV="false" rot="0">
              <a:off x="377054" y="515106"/>
              <a:ext cx="747914" cy="799374"/>
            </a:xfrm>
            <a:custGeom>
              <a:avLst/>
              <a:gdLst/>
              <a:ahLst/>
              <a:cxnLst/>
              <a:rect r="r" b="b" t="t" l="l"/>
              <a:pathLst>
                <a:path h="799374" w="747914">
                  <a:moveTo>
                    <a:pt x="0" y="0"/>
                  </a:moveTo>
                  <a:lnTo>
                    <a:pt x="747915" y="0"/>
                  </a:lnTo>
                  <a:lnTo>
                    <a:pt x="747915" y="799374"/>
                  </a:lnTo>
                  <a:lnTo>
                    <a:pt x="0" y="799374"/>
                  </a:lnTo>
                  <a:lnTo>
                    <a:pt x="0" y="0"/>
                  </a:lnTo>
                  <a:close/>
                </a:path>
              </a:pathLst>
            </a:custGeom>
            <a:blipFill>
              <a:blip r:embed="rId4"/>
              <a:stretch>
                <a:fillRect l="0" t="0" r="0" b="0"/>
              </a:stretch>
            </a:blipFill>
          </p:spPr>
        </p:sp>
      </p:grpSp>
      <p:grpSp>
        <p:nvGrpSpPr>
          <p:cNvPr name="Group 10" id="10"/>
          <p:cNvGrpSpPr/>
          <p:nvPr/>
        </p:nvGrpSpPr>
        <p:grpSpPr>
          <a:xfrm rot="0">
            <a:off x="1028700" y="1881251"/>
            <a:ext cx="7198071" cy="4130183"/>
            <a:chOff x="0" y="0"/>
            <a:chExt cx="9597428" cy="5506911"/>
          </a:xfrm>
        </p:grpSpPr>
        <p:sp>
          <p:nvSpPr>
            <p:cNvPr name="TextBox 11" id="11"/>
            <p:cNvSpPr txBox="true"/>
            <p:nvPr/>
          </p:nvSpPr>
          <p:spPr>
            <a:xfrm rot="0">
              <a:off x="0" y="190500"/>
              <a:ext cx="9597428" cy="3534834"/>
            </a:xfrm>
            <a:prstGeom prst="rect">
              <a:avLst/>
            </a:prstGeom>
          </p:spPr>
          <p:txBody>
            <a:bodyPr anchor="t" rtlCol="false" tIns="0" lIns="0" bIns="0" rIns="0">
              <a:spAutoFit/>
            </a:bodyPr>
            <a:lstStyle/>
            <a:p>
              <a:pPr algn="l">
                <a:lnSpc>
                  <a:spcPts val="9999"/>
                </a:lnSpc>
              </a:pPr>
              <a:r>
                <a:rPr lang="en-US" b="true" sz="9999" spc="99">
                  <a:solidFill>
                    <a:srgbClr val="C22B23"/>
                  </a:solidFill>
                  <a:latin typeface="Saira ExtraCondensed Heavy"/>
                  <a:ea typeface="Saira ExtraCondensed Heavy"/>
                  <a:cs typeface="Saira ExtraCondensed Heavy"/>
                  <a:sym typeface="Saira ExtraCondensed Heavy"/>
                </a:rPr>
                <a:t>Kế hoạch ra mắt thị trường</a:t>
              </a:r>
            </a:p>
          </p:txBody>
        </p:sp>
        <p:sp>
          <p:nvSpPr>
            <p:cNvPr name="TextBox 12" id="12"/>
            <p:cNvSpPr txBox="true"/>
            <p:nvPr/>
          </p:nvSpPr>
          <p:spPr>
            <a:xfrm rot="0">
              <a:off x="0" y="4062709"/>
              <a:ext cx="8627187" cy="1404408"/>
            </a:xfrm>
            <a:prstGeom prst="rect">
              <a:avLst/>
            </a:prstGeom>
          </p:spPr>
          <p:txBody>
            <a:bodyPr anchor="t" rtlCol="false" tIns="0" lIns="0" bIns="0" rIns="0">
              <a:spAutoFit/>
            </a:bodyPr>
            <a:lstStyle/>
            <a:p>
              <a:pPr algn="l">
                <a:lnSpc>
                  <a:spcPts val="4225"/>
                </a:lnSpc>
              </a:pPr>
              <a:r>
                <a:rPr lang="en-US" b="true" sz="3250">
                  <a:solidFill>
                    <a:srgbClr val="FAFAFA"/>
                  </a:solidFill>
                  <a:latin typeface="Montserrat Medium"/>
                  <a:ea typeface="Montserrat Medium"/>
                  <a:cs typeface="Montserrat Medium"/>
                  <a:sym typeface="Montserrat Medium"/>
                </a:rPr>
                <a:t>Hãy trình bày ngắn gọn về những gì bạn muốn thảo luận.</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C22B23"/>
        </a:solidFill>
      </p:bgPr>
    </p:bg>
    <p:spTree>
      <p:nvGrpSpPr>
        <p:cNvPr id="1" name=""/>
        <p:cNvGrpSpPr/>
        <p:nvPr/>
      </p:nvGrpSpPr>
      <p:grpSpPr>
        <a:xfrm>
          <a:off x="0" y="0"/>
          <a:ext cx="0" cy="0"/>
          <a:chOff x="0" y="0"/>
          <a:chExt cx="0" cy="0"/>
        </a:xfrm>
      </p:grpSpPr>
      <p:grpSp>
        <p:nvGrpSpPr>
          <p:cNvPr name="Group 2" id="2"/>
          <p:cNvGrpSpPr/>
          <p:nvPr/>
        </p:nvGrpSpPr>
        <p:grpSpPr>
          <a:xfrm rot="0">
            <a:off x="1028700" y="2077962"/>
            <a:ext cx="272415" cy="272415"/>
            <a:chOff x="0" y="0"/>
            <a:chExt cx="6350000" cy="6350000"/>
          </a:xfrm>
        </p:grpSpPr>
        <p:sp>
          <p:nvSpPr>
            <p:cNvPr name="Freeform 3" id="3"/>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E1D1D"/>
            </a:solidFill>
          </p:spPr>
        </p:sp>
      </p:grpSp>
      <p:grpSp>
        <p:nvGrpSpPr>
          <p:cNvPr name="Group 4" id="4"/>
          <p:cNvGrpSpPr/>
          <p:nvPr/>
        </p:nvGrpSpPr>
        <p:grpSpPr>
          <a:xfrm rot="0">
            <a:off x="1028700" y="2690622"/>
            <a:ext cx="272415" cy="272415"/>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E1D1D"/>
            </a:solidFill>
          </p:spPr>
        </p:sp>
      </p:grpSp>
      <p:grpSp>
        <p:nvGrpSpPr>
          <p:cNvPr name="Group 6" id="6"/>
          <p:cNvGrpSpPr/>
          <p:nvPr/>
        </p:nvGrpSpPr>
        <p:grpSpPr>
          <a:xfrm rot="0">
            <a:off x="1028700" y="3303281"/>
            <a:ext cx="272415" cy="272415"/>
            <a:chOff x="0" y="0"/>
            <a:chExt cx="6350000" cy="6350000"/>
          </a:xfrm>
        </p:grpSpPr>
        <p:sp>
          <p:nvSpPr>
            <p:cNvPr name="Freeform 7" id="7"/>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E1D1D"/>
            </a:solidFill>
          </p:spPr>
        </p:sp>
      </p:grpSp>
      <p:grpSp>
        <p:nvGrpSpPr>
          <p:cNvPr name="Group 8" id="8"/>
          <p:cNvGrpSpPr/>
          <p:nvPr/>
        </p:nvGrpSpPr>
        <p:grpSpPr>
          <a:xfrm rot="0">
            <a:off x="1028700" y="3915941"/>
            <a:ext cx="272415" cy="272415"/>
            <a:chOff x="0" y="0"/>
            <a:chExt cx="6350000" cy="6350000"/>
          </a:xfrm>
        </p:grpSpPr>
        <p:sp>
          <p:nvSpPr>
            <p:cNvPr name="Freeform 9" id="9"/>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E1D1D"/>
            </a:solidFill>
          </p:spPr>
        </p:sp>
      </p:grpSp>
      <p:grpSp>
        <p:nvGrpSpPr>
          <p:cNvPr name="Group 10" id="10"/>
          <p:cNvGrpSpPr/>
          <p:nvPr/>
        </p:nvGrpSpPr>
        <p:grpSpPr>
          <a:xfrm rot="0">
            <a:off x="1028700" y="4528600"/>
            <a:ext cx="272415" cy="272415"/>
            <a:chOff x="0" y="0"/>
            <a:chExt cx="6350000" cy="6350000"/>
          </a:xfrm>
        </p:grpSpPr>
        <p:sp>
          <p:nvSpPr>
            <p:cNvPr name="Freeform 11" id="11"/>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E1D1D"/>
            </a:solidFill>
          </p:spPr>
        </p:sp>
      </p:grpSp>
      <p:sp>
        <p:nvSpPr>
          <p:cNvPr name="TextBox 12" id="12"/>
          <p:cNvSpPr txBox="true"/>
          <p:nvPr/>
        </p:nvSpPr>
        <p:spPr>
          <a:xfrm rot="0">
            <a:off x="1028700" y="1027470"/>
            <a:ext cx="6665720" cy="771525"/>
          </a:xfrm>
          <a:prstGeom prst="rect">
            <a:avLst/>
          </a:prstGeom>
        </p:spPr>
        <p:txBody>
          <a:bodyPr anchor="t" rtlCol="false" tIns="0" lIns="0" bIns="0" rIns="0">
            <a:spAutoFit/>
          </a:bodyPr>
          <a:lstStyle/>
          <a:p>
            <a:pPr algn="just" marL="0" indent="0" lvl="0">
              <a:lnSpc>
                <a:spcPts val="6000"/>
              </a:lnSpc>
            </a:pPr>
            <a:r>
              <a:rPr lang="en-US" b="true" sz="5000" u="none">
                <a:solidFill>
                  <a:srgbClr val="FAFAFA"/>
                </a:solidFill>
                <a:latin typeface="Saira ExtraCondensed Bold"/>
                <a:ea typeface="Saira ExtraCondensed Bold"/>
                <a:cs typeface="Saira ExtraCondensed Bold"/>
                <a:sym typeface="Saira ExtraCondensed Bold"/>
              </a:rPr>
              <a:t>Trò chơi Sitwell</a:t>
            </a:r>
          </a:p>
        </p:txBody>
      </p:sp>
      <p:sp>
        <p:nvSpPr>
          <p:cNvPr name="TextBox 13" id="13"/>
          <p:cNvSpPr txBox="true"/>
          <p:nvPr/>
        </p:nvSpPr>
        <p:spPr>
          <a:xfrm rot="0">
            <a:off x="1654591" y="1984300"/>
            <a:ext cx="6039829" cy="445770"/>
          </a:xfrm>
          <a:prstGeom prst="rect">
            <a:avLst/>
          </a:prstGeom>
        </p:spPr>
        <p:txBody>
          <a:bodyPr anchor="t" rtlCol="false" tIns="0" lIns="0" bIns="0" rIns="0">
            <a:spAutoFit/>
          </a:bodyPr>
          <a:lstStyle/>
          <a:p>
            <a:pPr algn="l" marL="0" indent="0" lvl="0">
              <a:lnSpc>
                <a:spcPts val="3639"/>
              </a:lnSpc>
              <a:spcBef>
                <a:spcPct val="0"/>
              </a:spcBef>
            </a:pPr>
            <a:r>
              <a:rPr lang="en-US" sz="2799" u="none">
                <a:solidFill>
                  <a:srgbClr val="FAFAFA"/>
                </a:solidFill>
                <a:latin typeface="Montserrat"/>
                <a:ea typeface="Montserrat"/>
                <a:cs typeface="Montserrat"/>
                <a:sym typeface="Montserrat"/>
              </a:rPr>
              <a:t>Chủ đề 1</a:t>
            </a:r>
          </a:p>
        </p:txBody>
      </p:sp>
      <p:sp>
        <p:nvSpPr>
          <p:cNvPr name="TextBox 14" id="14"/>
          <p:cNvSpPr txBox="true"/>
          <p:nvPr/>
        </p:nvSpPr>
        <p:spPr>
          <a:xfrm rot="0">
            <a:off x="1654591" y="2596959"/>
            <a:ext cx="6039829" cy="445770"/>
          </a:xfrm>
          <a:prstGeom prst="rect">
            <a:avLst/>
          </a:prstGeom>
        </p:spPr>
        <p:txBody>
          <a:bodyPr anchor="t" rtlCol="false" tIns="0" lIns="0" bIns="0" rIns="0">
            <a:spAutoFit/>
          </a:bodyPr>
          <a:lstStyle/>
          <a:p>
            <a:pPr algn="l" marL="0" indent="0" lvl="0">
              <a:lnSpc>
                <a:spcPts val="3639"/>
              </a:lnSpc>
              <a:spcBef>
                <a:spcPct val="0"/>
              </a:spcBef>
            </a:pPr>
            <a:r>
              <a:rPr lang="en-US" sz="2799" u="none">
                <a:solidFill>
                  <a:srgbClr val="FAFAFA"/>
                </a:solidFill>
                <a:latin typeface="Montserrat"/>
                <a:ea typeface="Montserrat"/>
                <a:cs typeface="Montserrat"/>
                <a:sym typeface="Montserrat"/>
              </a:rPr>
              <a:t>Chủ đề 2</a:t>
            </a:r>
          </a:p>
        </p:txBody>
      </p:sp>
      <p:grpSp>
        <p:nvGrpSpPr>
          <p:cNvPr name="Group 15" id="15"/>
          <p:cNvGrpSpPr/>
          <p:nvPr/>
        </p:nvGrpSpPr>
        <p:grpSpPr>
          <a:xfrm rot="0">
            <a:off x="1028700" y="6460634"/>
            <a:ext cx="272415" cy="272415"/>
            <a:chOff x="0" y="0"/>
            <a:chExt cx="6350000" cy="6350000"/>
          </a:xfrm>
        </p:grpSpPr>
        <p:sp>
          <p:nvSpPr>
            <p:cNvPr name="Freeform 16" id="1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E1D1D"/>
            </a:solidFill>
          </p:spPr>
        </p:sp>
      </p:grpSp>
      <p:grpSp>
        <p:nvGrpSpPr>
          <p:cNvPr name="Group 17" id="17"/>
          <p:cNvGrpSpPr/>
          <p:nvPr/>
        </p:nvGrpSpPr>
        <p:grpSpPr>
          <a:xfrm rot="0">
            <a:off x="1028700" y="7073294"/>
            <a:ext cx="272415" cy="272415"/>
            <a:chOff x="0" y="0"/>
            <a:chExt cx="6350000" cy="6350000"/>
          </a:xfrm>
        </p:grpSpPr>
        <p:sp>
          <p:nvSpPr>
            <p:cNvPr name="Freeform 18" id="1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E1D1D"/>
            </a:solidFill>
          </p:spPr>
        </p:sp>
      </p:grpSp>
      <p:grpSp>
        <p:nvGrpSpPr>
          <p:cNvPr name="Group 19" id="19"/>
          <p:cNvGrpSpPr/>
          <p:nvPr/>
        </p:nvGrpSpPr>
        <p:grpSpPr>
          <a:xfrm rot="0">
            <a:off x="1028700" y="7685953"/>
            <a:ext cx="272415" cy="272415"/>
            <a:chOff x="0" y="0"/>
            <a:chExt cx="6350000" cy="6350000"/>
          </a:xfrm>
        </p:grpSpPr>
        <p:sp>
          <p:nvSpPr>
            <p:cNvPr name="Freeform 20" id="20"/>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E1D1D"/>
            </a:solidFill>
          </p:spPr>
        </p:sp>
      </p:grpSp>
      <p:grpSp>
        <p:nvGrpSpPr>
          <p:cNvPr name="Group 21" id="21"/>
          <p:cNvGrpSpPr/>
          <p:nvPr/>
        </p:nvGrpSpPr>
        <p:grpSpPr>
          <a:xfrm rot="0">
            <a:off x="1028700" y="8298613"/>
            <a:ext cx="272415" cy="272415"/>
            <a:chOff x="0" y="0"/>
            <a:chExt cx="6350000" cy="6350000"/>
          </a:xfrm>
        </p:grpSpPr>
        <p:sp>
          <p:nvSpPr>
            <p:cNvPr name="Freeform 22" id="22"/>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E1D1D"/>
            </a:solidFill>
          </p:spPr>
        </p:sp>
      </p:grpSp>
      <p:grpSp>
        <p:nvGrpSpPr>
          <p:cNvPr name="Group 23" id="23"/>
          <p:cNvGrpSpPr/>
          <p:nvPr/>
        </p:nvGrpSpPr>
        <p:grpSpPr>
          <a:xfrm rot="0">
            <a:off x="1028700" y="8911272"/>
            <a:ext cx="272415" cy="272415"/>
            <a:chOff x="0" y="0"/>
            <a:chExt cx="6350000" cy="6350000"/>
          </a:xfrm>
        </p:grpSpPr>
        <p:sp>
          <p:nvSpPr>
            <p:cNvPr name="Freeform 24" id="2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E1D1D"/>
            </a:solidFill>
          </p:spPr>
        </p:sp>
      </p:grpSp>
      <p:grpSp>
        <p:nvGrpSpPr>
          <p:cNvPr name="Group 25" id="25"/>
          <p:cNvGrpSpPr>
            <a:grpSpLocks noChangeAspect="true"/>
          </p:cNvGrpSpPr>
          <p:nvPr/>
        </p:nvGrpSpPr>
        <p:grpSpPr>
          <a:xfrm rot="0">
            <a:off x="7077719" y="0"/>
            <a:ext cx="14358870" cy="10287000"/>
            <a:chOff x="0" y="0"/>
            <a:chExt cx="6204890" cy="4445315"/>
          </a:xfrm>
        </p:grpSpPr>
        <p:sp>
          <p:nvSpPr>
            <p:cNvPr name="Freeform 26" id="26"/>
            <p:cNvSpPr/>
            <p:nvPr/>
          </p:nvSpPr>
          <p:spPr>
            <a:xfrm flipH="false" flipV="false" rot="0">
              <a:off x="0" y="0"/>
              <a:ext cx="6204890" cy="4445315"/>
            </a:xfrm>
            <a:custGeom>
              <a:avLst/>
              <a:gdLst/>
              <a:ahLst/>
              <a:cxnLst/>
              <a:rect r="r" b="b" t="t" l="l"/>
              <a:pathLst>
                <a:path h="4445315" w="6204890">
                  <a:moveTo>
                    <a:pt x="6204890" y="4443713"/>
                  </a:moveTo>
                  <a:cubicBezTo>
                    <a:pt x="4136594" y="4444247"/>
                    <a:pt x="2068297" y="4444781"/>
                    <a:pt x="0" y="4445315"/>
                  </a:cubicBezTo>
                  <a:cubicBezTo>
                    <a:pt x="1141452" y="3507090"/>
                    <a:pt x="2282904" y="2568864"/>
                    <a:pt x="3424355" y="1630638"/>
                  </a:cubicBezTo>
                  <a:cubicBezTo>
                    <a:pt x="2844676" y="1630615"/>
                    <a:pt x="2264996" y="1630592"/>
                    <a:pt x="1685316" y="1630568"/>
                  </a:cubicBezTo>
                  <a:cubicBezTo>
                    <a:pt x="2345680" y="1087046"/>
                    <a:pt x="3006045" y="543523"/>
                    <a:pt x="3666409" y="0"/>
                  </a:cubicBezTo>
                  <a:cubicBezTo>
                    <a:pt x="4512569" y="113"/>
                    <a:pt x="5358729" y="226"/>
                    <a:pt x="6204889" y="339"/>
                  </a:cubicBezTo>
                  <a:cubicBezTo>
                    <a:pt x="6204889" y="1481463"/>
                    <a:pt x="6204890" y="2962588"/>
                    <a:pt x="6204890" y="4443713"/>
                  </a:cubicBezTo>
                  <a:close/>
                </a:path>
              </a:pathLst>
            </a:custGeom>
            <a:solidFill>
              <a:srgbClr val="C22B23"/>
            </a:solidFill>
          </p:spPr>
        </p:sp>
        <p:sp>
          <p:nvSpPr>
            <p:cNvPr name="Freeform 27" id="27"/>
            <p:cNvSpPr/>
            <p:nvPr/>
          </p:nvSpPr>
          <p:spPr>
            <a:xfrm flipH="false" flipV="false" rot="0">
              <a:off x="0" y="0"/>
              <a:ext cx="6204890" cy="4445315"/>
            </a:xfrm>
            <a:custGeom>
              <a:avLst/>
              <a:gdLst/>
              <a:ahLst/>
              <a:cxnLst/>
              <a:rect r="r" b="b" t="t" l="l"/>
              <a:pathLst>
                <a:path h="4445315" w="6204890">
                  <a:moveTo>
                    <a:pt x="6204890" y="4443713"/>
                  </a:moveTo>
                  <a:cubicBezTo>
                    <a:pt x="4136594" y="4444247"/>
                    <a:pt x="2068297" y="4444781"/>
                    <a:pt x="0" y="4445315"/>
                  </a:cubicBezTo>
                  <a:cubicBezTo>
                    <a:pt x="1141452" y="3507090"/>
                    <a:pt x="2282904" y="2568864"/>
                    <a:pt x="3424355" y="1630638"/>
                  </a:cubicBezTo>
                  <a:cubicBezTo>
                    <a:pt x="2844676" y="1630615"/>
                    <a:pt x="2264996" y="1630592"/>
                    <a:pt x="1685316" y="1630568"/>
                  </a:cubicBezTo>
                  <a:cubicBezTo>
                    <a:pt x="2345680" y="1087046"/>
                    <a:pt x="3006045" y="543523"/>
                    <a:pt x="3666409" y="0"/>
                  </a:cubicBezTo>
                  <a:cubicBezTo>
                    <a:pt x="4512569" y="113"/>
                    <a:pt x="5358729" y="226"/>
                    <a:pt x="6204889" y="339"/>
                  </a:cubicBezTo>
                  <a:cubicBezTo>
                    <a:pt x="6204889" y="1481463"/>
                    <a:pt x="6204890" y="2962588"/>
                    <a:pt x="6204890" y="4443713"/>
                  </a:cubicBezTo>
                  <a:close/>
                </a:path>
              </a:pathLst>
            </a:custGeom>
            <a:blipFill>
              <a:blip r:embed="rId2"/>
              <a:stretch>
                <a:fillRect l="0" t="0" r="-18350" b="-10165"/>
              </a:stretch>
            </a:blipFill>
          </p:spPr>
        </p:sp>
      </p:grpSp>
      <p:grpSp>
        <p:nvGrpSpPr>
          <p:cNvPr name="Group 28" id="28"/>
          <p:cNvGrpSpPr/>
          <p:nvPr/>
        </p:nvGrpSpPr>
        <p:grpSpPr>
          <a:xfrm rot="0">
            <a:off x="8933483" y="6547894"/>
            <a:ext cx="5890030" cy="1676106"/>
            <a:chOff x="0" y="0"/>
            <a:chExt cx="7853373" cy="2234808"/>
          </a:xfrm>
        </p:grpSpPr>
        <p:grpSp>
          <p:nvGrpSpPr>
            <p:cNvPr name="Group 29" id="29"/>
            <p:cNvGrpSpPr/>
            <p:nvPr/>
          </p:nvGrpSpPr>
          <p:grpSpPr>
            <a:xfrm rot="0">
              <a:off x="0" y="0"/>
              <a:ext cx="7853373" cy="2234808"/>
              <a:chOff x="0" y="0"/>
              <a:chExt cx="3842336" cy="1097796"/>
            </a:xfrm>
          </p:grpSpPr>
          <p:sp>
            <p:nvSpPr>
              <p:cNvPr name="Freeform 30" id="30"/>
              <p:cNvSpPr/>
              <p:nvPr/>
            </p:nvSpPr>
            <p:spPr>
              <a:xfrm flipH="false" flipV="false" rot="0">
                <a:off x="0" y="0"/>
                <a:ext cx="3842336" cy="1097797"/>
              </a:xfrm>
              <a:custGeom>
                <a:avLst/>
                <a:gdLst/>
                <a:ahLst/>
                <a:cxnLst/>
                <a:rect r="r" b="b" t="t" l="l"/>
                <a:pathLst>
                  <a:path h="1097797" w="3842336">
                    <a:moveTo>
                      <a:pt x="3717875" y="1097796"/>
                    </a:moveTo>
                    <a:lnTo>
                      <a:pt x="124460" y="1097796"/>
                    </a:lnTo>
                    <a:cubicBezTo>
                      <a:pt x="55880" y="1097796"/>
                      <a:pt x="0" y="1041916"/>
                      <a:pt x="0" y="973336"/>
                    </a:cubicBezTo>
                    <a:lnTo>
                      <a:pt x="0" y="124460"/>
                    </a:lnTo>
                    <a:cubicBezTo>
                      <a:pt x="0" y="55880"/>
                      <a:pt x="55880" y="0"/>
                      <a:pt x="124460" y="0"/>
                    </a:cubicBezTo>
                    <a:lnTo>
                      <a:pt x="3717876" y="0"/>
                    </a:lnTo>
                    <a:cubicBezTo>
                      <a:pt x="3786456" y="0"/>
                      <a:pt x="3842336" y="55880"/>
                      <a:pt x="3842336" y="124460"/>
                    </a:cubicBezTo>
                    <a:lnTo>
                      <a:pt x="3842336" y="973337"/>
                    </a:lnTo>
                    <a:cubicBezTo>
                      <a:pt x="3842336" y="1041916"/>
                      <a:pt x="3786456" y="1097797"/>
                      <a:pt x="3717876" y="1097797"/>
                    </a:cubicBezTo>
                    <a:close/>
                  </a:path>
                </a:pathLst>
              </a:custGeom>
              <a:solidFill>
                <a:srgbClr val="FAFAFA"/>
              </a:solidFill>
            </p:spPr>
          </p:sp>
        </p:grpSp>
        <p:sp>
          <p:nvSpPr>
            <p:cNvPr name="TextBox 31" id="31"/>
            <p:cNvSpPr txBox="true"/>
            <p:nvPr/>
          </p:nvSpPr>
          <p:spPr>
            <a:xfrm rot="0">
              <a:off x="1532366" y="1508337"/>
              <a:ext cx="5936250" cy="332105"/>
            </a:xfrm>
            <a:prstGeom prst="rect">
              <a:avLst/>
            </a:prstGeom>
          </p:spPr>
          <p:txBody>
            <a:bodyPr anchor="t" rtlCol="false" tIns="0" lIns="0" bIns="0" rIns="0">
              <a:spAutoFit/>
            </a:bodyPr>
            <a:lstStyle/>
            <a:p>
              <a:pPr algn="l">
                <a:lnSpc>
                  <a:spcPts val="2100"/>
                </a:lnSpc>
                <a:spcBef>
                  <a:spcPct val="0"/>
                </a:spcBef>
              </a:pPr>
              <a:r>
                <a:rPr lang="en-US" sz="1400" i="true">
                  <a:solidFill>
                    <a:srgbClr val="C22B23"/>
                  </a:solidFill>
                  <a:latin typeface="Montserrat Italics"/>
                  <a:ea typeface="Montserrat Italics"/>
                  <a:cs typeface="Montserrat Italics"/>
                  <a:sym typeface="Montserrat Italics"/>
                </a:rPr>
                <a:t>Vui lòng xóa ghi chú sau khi chỉnh sửa trang này.</a:t>
              </a:r>
            </a:p>
          </p:txBody>
        </p:sp>
        <p:sp>
          <p:nvSpPr>
            <p:cNvPr name="TextBox 32" id="32"/>
            <p:cNvSpPr txBox="true"/>
            <p:nvPr/>
          </p:nvSpPr>
          <p:spPr>
            <a:xfrm rot="0">
              <a:off x="1532366" y="346741"/>
              <a:ext cx="5936250" cy="1043305"/>
            </a:xfrm>
            <a:prstGeom prst="rect">
              <a:avLst/>
            </a:prstGeom>
          </p:spPr>
          <p:txBody>
            <a:bodyPr anchor="t" rtlCol="false" tIns="0" lIns="0" bIns="0" rIns="0">
              <a:spAutoFit/>
            </a:bodyPr>
            <a:lstStyle/>
            <a:p>
              <a:pPr algn="l" marL="0" indent="0" lvl="0">
                <a:lnSpc>
                  <a:spcPts val="2100"/>
                </a:lnSpc>
                <a:spcBef>
                  <a:spcPct val="0"/>
                </a:spcBef>
              </a:pPr>
              <a:r>
                <a:rPr lang="en-US" sz="1400" u="none">
                  <a:solidFill>
                    <a:srgbClr val="1E1D1D"/>
                  </a:solidFill>
                  <a:latin typeface="Montserrat"/>
                  <a:ea typeface="Montserrat"/>
                  <a:cs typeface="Montserrat"/>
                  <a:sym typeface="Montserrat"/>
                  <a:hlinkClick r:id="rId3" tooltip="https://docs.google.com/spreadsheets/d/1DUF2isFWsqVSYhbaACYtbgcLi_YjDqpE3GLQIVgkKQg/edit#gid=69851113"/>
                </a:rPr>
                <a:t>Cung cấp tổng quan đầy đủ về bối cảnh</a:t>
              </a:r>
            </a:p>
            <a:p>
              <a:pPr algn="l" marL="0" indent="0" lvl="0">
                <a:lnSpc>
                  <a:spcPts val="2100"/>
                </a:lnSpc>
                <a:spcBef>
                  <a:spcPct val="0"/>
                </a:spcBef>
              </a:pPr>
              <a:r>
                <a:rPr lang="en-US" sz="1400" u="none">
                  <a:solidFill>
                    <a:srgbClr val="1E1D1D"/>
                  </a:solidFill>
                  <a:latin typeface="Montserrat"/>
                  <a:ea typeface="Montserrat"/>
                  <a:cs typeface="Montserrat"/>
                  <a:sym typeface="Montserrat"/>
                  <a:hlinkClick r:id="rId4" tooltip="https://docs.google.com/spreadsheets/d/1DUF2isFWsqVSYhbaACYtbgcLi_YjDqpE3GLQIVgkKQg/edit#gid=69851113"/>
                </a:rPr>
                <a:t>cạnh tranh. Và việc nói rằng bạn “đam mê hơn”</a:t>
              </a:r>
            </a:p>
            <a:p>
              <a:pPr algn="l" marL="0" indent="0" lvl="0">
                <a:lnSpc>
                  <a:spcPts val="2100"/>
                </a:lnSpc>
                <a:spcBef>
                  <a:spcPct val="0"/>
                </a:spcBef>
              </a:pPr>
              <a:r>
                <a:rPr lang="en-US" sz="1400" u="none">
                  <a:solidFill>
                    <a:srgbClr val="1E1D1D"/>
                  </a:solidFill>
                  <a:latin typeface="Montserrat"/>
                  <a:ea typeface="Montserrat"/>
                  <a:cs typeface="Montserrat"/>
                  <a:sym typeface="Montserrat"/>
                  <a:hlinkClick r:id="rId5" tooltip="https://docs.google.com/spreadsheets/d/1DUF2isFWsqVSYhbaACYtbgcLi_YjDqpE3GLQIVgkKQg/edit#gid=69851113"/>
                </a:rPr>
                <a:t>là hoàn toàn vô nghĩa.</a:t>
              </a:r>
            </a:p>
          </p:txBody>
        </p:sp>
        <p:sp>
          <p:nvSpPr>
            <p:cNvPr name="Freeform 33" id="33"/>
            <p:cNvSpPr/>
            <p:nvPr/>
          </p:nvSpPr>
          <p:spPr>
            <a:xfrm flipH="false" flipV="false" rot="0">
              <a:off x="415154" y="717717"/>
              <a:ext cx="747914" cy="799374"/>
            </a:xfrm>
            <a:custGeom>
              <a:avLst/>
              <a:gdLst/>
              <a:ahLst/>
              <a:cxnLst/>
              <a:rect r="r" b="b" t="t" l="l"/>
              <a:pathLst>
                <a:path h="799374" w="747914">
                  <a:moveTo>
                    <a:pt x="0" y="0"/>
                  </a:moveTo>
                  <a:lnTo>
                    <a:pt x="747915" y="0"/>
                  </a:lnTo>
                  <a:lnTo>
                    <a:pt x="747915" y="799374"/>
                  </a:lnTo>
                  <a:lnTo>
                    <a:pt x="0" y="799374"/>
                  </a:lnTo>
                  <a:lnTo>
                    <a:pt x="0" y="0"/>
                  </a:lnTo>
                  <a:close/>
                </a:path>
              </a:pathLst>
            </a:custGeom>
            <a:blipFill>
              <a:blip r:embed="rId6"/>
              <a:stretch>
                <a:fillRect l="0" t="0" r="0" b="0"/>
              </a:stretch>
            </a:blipFill>
          </p:spPr>
        </p:sp>
      </p:grpSp>
      <p:sp>
        <p:nvSpPr>
          <p:cNvPr name="TextBox 34" id="34"/>
          <p:cNvSpPr txBox="true"/>
          <p:nvPr/>
        </p:nvSpPr>
        <p:spPr>
          <a:xfrm rot="0">
            <a:off x="1654591" y="3209619"/>
            <a:ext cx="6039829" cy="445770"/>
          </a:xfrm>
          <a:prstGeom prst="rect">
            <a:avLst/>
          </a:prstGeom>
        </p:spPr>
        <p:txBody>
          <a:bodyPr anchor="t" rtlCol="false" tIns="0" lIns="0" bIns="0" rIns="0">
            <a:spAutoFit/>
          </a:bodyPr>
          <a:lstStyle/>
          <a:p>
            <a:pPr algn="l" marL="0" indent="0" lvl="0">
              <a:lnSpc>
                <a:spcPts val="3639"/>
              </a:lnSpc>
              <a:spcBef>
                <a:spcPct val="0"/>
              </a:spcBef>
            </a:pPr>
            <a:r>
              <a:rPr lang="en-US" sz="2799" u="none">
                <a:solidFill>
                  <a:srgbClr val="FAFAFA"/>
                </a:solidFill>
                <a:latin typeface="Montserrat"/>
                <a:ea typeface="Montserrat"/>
                <a:cs typeface="Montserrat"/>
                <a:sym typeface="Montserrat"/>
              </a:rPr>
              <a:t>Chủ đề 3</a:t>
            </a:r>
          </a:p>
        </p:txBody>
      </p:sp>
      <p:sp>
        <p:nvSpPr>
          <p:cNvPr name="TextBox 35" id="35"/>
          <p:cNvSpPr txBox="true"/>
          <p:nvPr/>
        </p:nvSpPr>
        <p:spPr>
          <a:xfrm rot="0">
            <a:off x="1654591" y="3822278"/>
            <a:ext cx="6039829" cy="445770"/>
          </a:xfrm>
          <a:prstGeom prst="rect">
            <a:avLst/>
          </a:prstGeom>
        </p:spPr>
        <p:txBody>
          <a:bodyPr anchor="t" rtlCol="false" tIns="0" lIns="0" bIns="0" rIns="0">
            <a:spAutoFit/>
          </a:bodyPr>
          <a:lstStyle/>
          <a:p>
            <a:pPr algn="l" marL="0" indent="0" lvl="0">
              <a:lnSpc>
                <a:spcPts val="3639"/>
              </a:lnSpc>
              <a:spcBef>
                <a:spcPct val="0"/>
              </a:spcBef>
            </a:pPr>
            <a:r>
              <a:rPr lang="en-US" sz="2799" u="none">
                <a:solidFill>
                  <a:srgbClr val="FAFAFA"/>
                </a:solidFill>
                <a:latin typeface="Montserrat"/>
                <a:ea typeface="Montserrat"/>
                <a:cs typeface="Montserrat"/>
                <a:sym typeface="Montserrat"/>
              </a:rPr>
              <a:t>Chủ đề 4</a:t>
            </a:r>
          </a:p>
        </p:txBody>
      </p:sp>
      <p:sp>
        <p:nvSpPr>
          <p:cNvPr name="TextBox 36" id="36"/>
          <p:cNvSpPr txBox="true"/>
          <p:nvPr/>
        </p:nvSpPr>
        <p:spPr>
          <a:xfrm rot="0">
            <a:off x="1654591" y="4434938"/>
            <a:ext cx="6039829" cy="445770"/>
          </a:xfrm>
          <a:prstGeom prst="rect">
            <a:avLst/>
          </a:prstGeom>
        </p:spPr>
        <p:txBody>
          <a:bodyPr anchor="t" rtlCol="false" tIns="0" lIns="0" bIns="0" rIns="0">
            <a:spAutoFit/>
          </a:bodyPr>
          <a:lstStyle/>
          <a:p>
            <a:pPr algn="l" marL="0" indent="0" lvl="0">
              <a:lnSpc>
                <a:spcPts val="3639"/>
              </a:lnSpc>
              <a:spcBef>
                <a:spcPct val="0"/>
              </a:spcBef>
            </a:pPr>
            <a:r>
              <a:rPr lang="en-US" sz="2799" u="none">
                <a:solidFill>
                  <a:srgbClr val="FAFAFA"/>
                </a:solidFill>
                <a:latin typeface="Montserrat"/>
                <a:ea typeface="Montserrat"/>
                <a:cs typeface="Montserrat"/>
                <a:sym typeface="Montserrat"/>
              </a:rPr>
              <a:t>Chủ đề 5</a:t>
            </a:r>
          </a:p>
        </p:txBody>
      </p:sp>
      <p:sp>
        <p:nvSpPr>
          <p:cNvPr name="TextBox 37" id="37"/>
          <p:cNvSpPr txBox="true"/>
          <p:nvPr/>
        </p:nvSpPr>
        <p:spPr>
          <a:xfrm rot="0">
            <a:off x="1028700" y="5410142"/>
            <a:ext cx="6665720" cy="771525"/>
          </a:xfrm>
          <a:prstGeom prst="rect">
            <a:avLst/>
          </a:prstGeom>
        </p:spPr>
        <p:txBody>
          <a:bodyPr anchor="t" rtlCol="false" tIns="0" lIns="0" bIns="0" rIns="0">
            <a:spAutoFit/>
          </a:bodyPr>
          <a:lstStyle/>
          <a:p>
            <a:pPr algn="just" marL="0" indent="0" lvl="0">
              <a:lnSpc>
                <a:spcPts val="6000"/>
              </a:lnSpc>
            </a:pPr>
            <a:r>
              <a:rPr lang="en-US" b="true" sz="5000" u="none">
                <a:solidFill>
                  <a:srgbClr val="FAFAFA"/>
                </a:solidFill>
                <a:latin typeface="Saira ExtraCondensed Bold"/>
                <a:ea typeface="Saira ExtraCondensed Bold"/>
                <a:cs typeface="Saira ExtraCondensed Bold"/>
                <a:sym typeface="Saira ExtraCondensed Bold"/>
              </a:rPr>
              <a:t>Các đối thủ khác</a:t>
            </a:r>
          </a:p>
        </p:txBody>
      </p:sp>
      <p:sp>
        <p:nvSpPr>
          <p:cNvPr name="TextBox 38" id="38"/>
          <p:cNvSpPr txBox="true"/>
          <p:nvPr/>
        </p:nvSpPr>
        <p:spPr>
          <a:xfrm rot="0">
            <a:off x="1654591" y="6366972"/>
            <a:ext cx="6039829" cy="445770"/>
          </a:xfrm>
          <a:prstGeom prst="rect">
            <a:avLst/>
          </a:prstGeom>
        </p:spPr>
        <p:txBody>
          <a:bodyPr anchor="t" rtlCol="false" tIns="0" lIns="0" bIns="0" rIns="0">
            <a:spAutoFit/>
          </a:bodyPr>
          <a:lstStyle/>
          <a:p>
            <a:pPr algn="l" marL="0" indent="0" lvl="0">
              <a:lnSpc>
                <a:spcPts val="3639"/>
              </a:lnSpc>
              <a:spcBef>
                <a:spcPct val="0"/>
              </a:spcBef>
            </a:pPr>
            <a:r>
              <a:rPr lang="en-US" sz="2799" u="none">
                <a:solidFill>
                  <a:srgbClr val="FAFAFA"/>
                </a:solidFill>
                <a:latin typeface="Montserrat"/>
                <a:ea typeface="Montserrat"/>
                <a:cs typeface="Montserrat"/>
                <a:sym typeface="Montserrat"/>
              </a:rPr>
              <a:t>Chủ đề 1</a:t>
            </a:r>
          </a:p>
        </p:txBody>
      </p:sp>
      <p:sp>
        <p:nvSpPr>
          <p:cNvPr name="TextBox 39" id="39"/>
          <p:cNvSpPr txBox="true"/>
          <p:nvPr/>
        </p:nvSpPr>
        <p:spPr>
          <a:xfrm rot="0">
            <a:off x="1654591" y="6979631"/>
            <a:ext cx="6039829" cy="445770"/>
          </a:xfrm>
          <a:prstGeom prst="rect">
            <a:avLst/>
          </a:prstGeom>
        </p:spPr>
        <p:txBody>
          <a:bodyPr anchor="t" rtlCol="false" tIns="0" lIns="0" bIns="0" rIns="0">
            <a:spAutoFit/>
          </a:bodyPr>
          <a:lstStyle/>
          <a:p>
            <a:pPr algn="l" marL="0" indent="0" lvl="0">
              <a:lnSpc>
                <a:spcPts val="3639"/>
              </a:lnSpc>
              <a:spcBef>
                <a:spcPct val="0"/>
              </a:spcBef>
            </a:pPr>
            <a:r>
              <a:rPr lang="en-US" sz="2799" u="none">
                <a:solidFill>
                  <a:srgbClr val="FAFAFA"/>
                </a:solidFill>
                <a:latin typeface="Montserrat"/>
                <a:ea typeface="Montserrat"/>
                <a:cs typeface="Montserrat"/>
                <a:sym typeface="Montserrat"/>
              </a:rPr>
              <a:t>Chủ đề 2</a:t>
            </a:r>
          </a:p>
        </p:txBody>
      </p:sp>
      <p:sp>
        <p:nvSpPr>
          <p:cNvPr name="TextBox 40" id="40"/>
          <p:cNvSpPr txBox="true"/>
          <p:nvPr/>
        </p:nvSpPr>
        <p:spPr>
          <a:xfrm rot="0">
            <a:off x="1654591" y="7592291"/>
            <a:ext cx="6039829" cy="445770"/>
          </a:xfrm>
          <a:prstGeom prst="rect">
            <a:avLst/>
          </a:prstGeom>
        </p:spPr>
        <p:txBody>
          <a:bodyPr anchor="t" rtlCol="false" tIns="0" lIns="0" bIns="0" rIns="0">
            <a:spAutoFit/>
          </a:bodyPr>
          <a:lstStyle/>
          <a:p>
            <a:pPr algn="l" marL="0" indent="0" lvl="0">
              <a:lnSpc>
                <a:spcPts val="3639"/>
              </a:lnSpc>
              <a:spcBef>
                <a:spcPct val="0"/>
              </a:spcBef>
            </a:pPr>
            <a:r>
              <a:rPr lang="en-US" sz="2799" u="none">
                <a:solidFill>
                  <a:srgbClr val="FAFAFA"/>
                </a:solidFill>
                <a:latin typeface="Montserrat"/>
                <a:ea typeface="Montserrat"/>
                <a:cs typeface="Montserrat"/>
                <a:sym typeface="Montserrat"/>
              </a:rPr>
              <a:t>Chủ đề 3</a:t>
            </a:r>
          </a:p>
        </p:txBody>
      </p:sp>
      <p:sp>
        <p:nvSpPr>
          <p:cNvPr name="TextBox 41" id="41"/>
          <p:cNvSpPr txBox="true"/>
          <p:nvPr/>
        </p:nvSpPr>
        <p:spPr>
          <a:xfrm rot="0">
            <a:off x="1654591" y="8204950"/>
            <a:ext cx="6039829" cy="445770"/>
          </a:xfrm>
          <a:prstGeom prst="rect">
            <a:avLst/>
          </a:prstGeom>
        </p:spPr>
        <p:txBody>
          <a:bodyPr anchor="t" rtlCol="false" tIns="0" lIns="0" bIns="0" rIns="0">
            <a:spAutoFit/>
          </a:bodyPr>
          <a:lstStyle/>
          <a:p>
            <a:pPr algn="l" marL="0" indent="0" lvl="0">
              <a:lnSpc>
                <a:spcPts val="3639"/>
              </a:lnSpc>
              <a:spcBef>
                <a:spcPct val="0"/>
              </a:spcBef>
            </a:pPr>
            <a:r>
              <a:rPr lang="en-US" sz="2799" u="none">
                <a:solidFill>
                  <a:srgbClr val="FAFAFA"/>
                </a:solidFill>
                <a:latin typeface="Montserrat"/>
                <a:ea typeface="Montserrat"/>
                <a:cs typeface="Montserrat"/>
                <a:sym typeface="Montserrat"/>
              </a:rPr>
              <a:t>Chủ đề 4</a:t>
            </a:r>
          </a:p>
        </p:txBody>
      </p:sp>
      <p:sp>
        <p:nvSpPr>
          <p:cNvPr name="TextBox 42" id="42"/>
          <p:cNvSpPr txBox="true"/>
          <p:nvPr/>
        </p:nvSpPr>
        <p:spPr>
          <a:xfrm rot="0">
            <a:off x="1654591" y="8817610"/>
            <a:ext cx="6039829" cy="445770"/>
          </a:xfrm>
          <a:prstGeom prst="rect">
            <a:avLst/>
          </a:prstGeom>
        </p:spPr>
        <p:txBody>
          <a:bodyPr anchor="t" rtlCol="false" tIns="0" lIns="0" bIns="0" rIns="0">
            <a:spAutoFit/>
          </a:bodyPr>
          <a:lstStyle/>
          <a:p>
            <a:pPr algn="l" marL="0" indent="0" lvl="0">
              <a:lnSpc>
                <a:spcPts val="3639"/>
              </a:lnSpc>
              <a:spcBef>
                <a:spcPct val="0"/>
              </a:spcBef>
            </a:pPr>
            <a:r>
              <a:rPr lang="en-US" sz="2799" u="none">
                <a:solidFill>
                  <a:srgbClr val="FAFAFA"/>
                </a:solidFill>
                <a:latin typeface="Montserrat"/>
                <a:ea typeface="Montserrat"/>
                <a:cs typeface="Montserrat"/>
                <a:sym typeface="Montserrat"/>
              </a:rPr>
              <a:t>Chủ đề 5</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1E1D1D"/>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9738831" y="2198809"/>
            <a:ext cx="1795729" cy="1795721"/>
            <a:chOff x="0" y="0"/>
            <a:chExt cx="6350000" cy="6349975"/>
          </a:xfrm>
        </p:grpSpPr>
        <p:sp>
          <p:nvSpPr>
            <p:cNvPr name="Freeform 3" id="3"/>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2"/>
              <a:stretch>
                <a:fillRect l="-12499" t="0" r="-12499" b="0"/>
              </a:stretch>
            </a:blipFill>
          </p:spPr>
        </p:sp>
      </p:grpSp>
      <p:grpSp>
        <p:nvGrpSpPr>
          <p:cNvPr name="Group 4" id="4"/>
          <p:cNvGrpSpPr>
            <a:grpSpLocks noChangeAspect="true"/>
          </p:cNvGrpSpPr>
          <p:nvPr/>
        </p:nvGrpSpPr>
        <p:grpSpPr>
          <a:xfrm rot="0">
            <a:off x="9738831" y="4259450"/>
            <a:ext cx="1795729" cy="1795721"/>
            <a:chOff x="0" y="0"/>
            <a:chExt cx="6350000" cy="6349975"/>
          </a:xfrm>
        </p:grpSpPr>
        <p:sp>
          <p:nvSpPr>
            <p:cNvPr name="Freeform 5" id="5"/>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3"/>
              <a:stretch>
                <a:fillRect l="-24999" t="0" r="-24999" b="0"/>
              </a:stretch>
            </a:blipFill>
          </p:spPr>
        </p:sp>
      </p:grpSp>
      <p:grpSp>
        <p:nvGrpSpPr>
          <p:cNvPr name="Group 6" id="6"/>
          <p:cNvGrpSpPr>
            <a:grpSpLocks noChangeAspect="true"/>
          </p:cNvGrpSpPr>
          <p:nvPr/>
        </p:nvGrpSpPr>
        <p:grpSpPr>
          <a:xfrm rot="0">
            <a:off x="9738831" y="6320092"/>
            <a:ext cx="1795729" cy="1795721"/>
            <a:chOff x="0" y="0"/>
            <a:chExt cx="6350000" cy="6349975"/>
          </a:xfrm>
        </p:grpSpPr>
        <p:sp>
          <p:nvSpPr>
            <p:cNvPr name="Freeform 7" id="7"/>
            <p:cNvSpPr/>
            <p:nvPr/>
          </p:nvSpPr>
          <p:spPr>
            <a:xfrm flipH="false" flipV="false" rot="0">
              <a:off x="0" y="0"/>
              <a:ext cx="6350000" cy="6349974"/>
            </a:xfrm>
            <a:custGeom>
              <a:avLst/>
              <a:gdLst/>
              <a:ahLst/>
              <a:cxnLst/>
              <a:rect r="r" b="b" t="t" l="l"/>
              <a:pathLst>
                <a:path h="6349974" w="635000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4"/>
              <a:stretch>
                <a:fillRect l="-24976" t="0" r="-24976" b="0"/>
              </a:stretch>
            </a:blipFill>
          </p:spPr>
        </p:sp>
      </p:grpSp>
      <p:grpSp>
        <p:nvGrpSpPr>
          <p:cNvPr name="Group 8" id="8"/>
          <p:cNvGrpSpPr>
            <a:grpSpLocks noChangeAspect="true"/>
          </p:cNvGrpSpPr>
          <p:nvPr/>
        </p:nvGrpSpPr>
        <p:grpSpPr>
          <a:xfrm rot="0">
            <a:off x="6505360" y="-2788519"/>
            <a:ext cx="10058400" cy="3817219"/>
            <a:chOff x="0" y="0"/>
            <a:chExt cx="5399224" cy="2049036"/>
          </a:xfrm>
        </p:grpSpPr>
        <p:sp>
          <p:nvSpPr>
            <p:cNvPr name="Freeform 9" id="9"/>
            <p:cNvSpPr/>
            <p:nvPr/>
          </p:nvSpPr>
          <p:spPr>
            <a:xfrm flipH="false" flipV="false" rot="0">
              <a:off x="0" y="0"/>
              <a:ext cx="5399224" cy="2049036"/>
            </a:xfrm>
            <a:custGeom>
              <a:avLst/>
              <a:gdLst/>
              <a:ahLst/>
              <a:cxnLst/>
              <a:rect r="r" b="b" t="t" l="l"/>
              <a:pathLst>
                <a:path h="2049036" w="5399224">
                  <a:moveTo>
                    <a:pt x="1138182" y="2049036"/>
                  </a:moveTo>
                  <a:lnTo>
                    <a:pt x="0" y="2049036"/>
                  </a:lnTo>
                  <a:lnTo>
                    <a:pt x="2049036" y="0"/>
                  </a:lnTo>
                  <a:lnTo>
                    <a:pt x="3187218" y="0"/>
                  </a:lnTo>
                  <a:lnTo>
                    <a:pt x="1138182" y="2049036"/>
                  </a:lnTo>
                  <a:close/>
                  <a:moveTo>
                    <a:pt x="5399224" y="0"/>
                  </a:moveTo>
                  <a:lnTo>
                    <a:pt x="4261042" y="0"/>
                  </a:lnTo>
                  <a:lnTo>
                    <a:pt x="2212007" y="2049036"/>
                  </a:lnTo>
                  <a:lnTo>
                    <a:pt x="3350189" y="2049036"/>
                  </a:lnTo>
                  <a:lnTo>
                    <a:pt x="5399224" y="0"/>
                  </a:lnTo>
                  <a:close/>
                </a:path>
              </a:pathLst>
            </a:custGeom>
            <a:solidFill>
              <a:srgbClr val="1E1D1D"/>
            </a:solidFill>
          </p:spPr>
        </p:sp>
        <p:sp>
          <p:nvSpPr>
            <p:cNvPr name="Freeform 10" id="10"/>
            <p:cNvSpPr/>
            <p:nvPr/>
          </p:nvSpPr>
          <p:spPr>
            <a:xfrm flipH="false" flipV="false" rot="0">
              <a:off x="0" y="0"/>
              <a:ext cx="5399224" cy="2049036"/>
            </a:xfrm>
            <a:custGeom>
              <a:avLst/>
              <a:gdLst/>
              <a:ahLst/>
              <a:cxnLst/>
              <a:rect r="r" b="b" t="t" l="l"/>
              <a:pathLst>
                <a:path h="2049036" w="5399224">
                  <a:moveTo>
                    <a:pt x="1138182" y="2049036"/>
                  </a:moveTo>
                  <a:lnTo>
                    <a:pt x="0" y="2049036"/>
                  </a:lnTo>
                  <a:lnTo>
                    <a:pt x="2049036" y="0"/>
                  </a:lnTo>
                  <a:lnTo>
                    <a:pt x="3187218" y="0"/>
                  </a:lnTo>
                  <a:lnTo>
                    <a:pt x="1138182" y="2049036"/>
                  </a:lnTo>
                  <a:close/>
                  <a:moveTo>
                    <a:pt x="5399224" y="0"/>
                  </a:moveTo>
                  <a:lnTo>
                    <a:pt x="4261042" y="0"/>
                  </a:lnTo>
                  <a:lnTo>
                    <a:pt x="2212007" y="2049036"/>
                  </a:lnTo>
                  <a:lnTo>
                    <a:pt x="3350189" y="2049036"/>
                  </a:lnTo>
                  <a:lnTo>
                    <a:pt x="5399224" y="0"/>
                  </a:lnTo>
                  <a:close/>
                </a:path>
              </a:pathLst>
            </a:custGeom>
            <a:solidFill>
              <a:srgbClr val="C22B23"/>
            </a:solidFill>
          </p:spPr>
        </p:sp>
      </p:grpSp>
      <p:sp>
        <p:nvSpPr>
          <p:cNvPr name="TextBox 11" id="11"/>
          <p:cNvSpPr txBox="true"/>
          <p:nvPr/>
        </p:nvSpPr>
        <p:spPr>
          <a:xfrm rot="0">
            <a:off x="1028700" y="3953986"/>
            <a:ext cx="7191364" cy="2603500"/>
          </a:xfrm>
          <a:prstGeom prst="rect">
            <a:avLst/>
          </a:prstGeom>
        </p:spPr>
        <p:txBody>
          <a:bodyPr anchor="t" rtlCol="false" tIns="0" lIns="0" bIns="0" rIns="0">
            <a:spAutoFit/>
          </a:bodyPr>
          <a:lstStyle/>
          <a:p>
            <a:pPr algn="l">
              <a:lnSpc>
                <a:spcPts val="9999"/>
              </a:lnSpc>
            </a:pPr>
            <a:r>
              <a:rPr lang="en-US" b="true" sz="9999" spc="99">
                <a:solidFill>
                  <a:srgbClr val="FAFAFA"/>
                </a:solidFill>
                <a:latin typeface="Saira ExtraCondensed Heavy"/>
                <a:ea typeface="Saira ExtraCondensed Heavy"/>
                <a:cs typeface="Saira ExtraCondensed Heavy"/>
                <a:sym typeface="Saira ExtraCondensed Heavy"/>
              </a:rPr>
              <a:t>Ban Lãnh Đạo</a:t>
            </a:r>
          </a:p>
          <a:p>
            <a:pPr algn="l">
              <a:lnSpc>
                <a:spcPts val="9999"/>
              </a:lnSpc>
            </a:pPr>
          </a:p>
        </p:txBody>
      </p:sp>
      <p:sp>
        <p:nvSpPr>
          <p:cNvPr name="TextBox 12" id="12"/>
          <p:cNvSpPr txBox="true"/>
          <p:nvPr/>
        </p:nvSpPr>
        <p:spPr>
          <a:xfrm rot="0">
            <a:off x="12464838" y="2521901"/>
            <a:ext cx="4794462" cy="556260"/>
          </a:xfrm>
          <a:prstGeom prst="rect">
            <a:avLst/>
          </a:prstGeom>
        </p:spPr>
        <p:txBody>
          <a:bodyPr anchor="t" rtlCol="false" tIns="0" lIns="0" bIns="0" rIns="0">
            <a:spAutoFit/>
          </a:bodyPr>
          <a:lstStyle/>
          <a:p>
            <a:pPr algn="l">
              <a:lnSpc>
                <a:spcPts val="4420"/>
              </a:lnSpc>
            </a:pPr>
            <a:r>
              <a:rPr lang="en-US" b="true" sz="3400">
                <a:solidFill>
                  <a:srgbClr val="C22B23"/>
                </a:solidFill>
                <a:latin typeface="Montserrat Medium"/>
                <a:ea typeface="Montserrat Medium"/>
                <a:cs typeface="Montserrat Medium"/>
                <a:sym typeface="Montserrat Medium"/>
              </a:rPr>
              <a:t>Trịnh Văn Phúc</a:t>
            </a:r>
          </a:p>
        </p:txBody>
      </p:sp>
      <p:sp>
        <p:nvSpPr>
          <p:cNvPr name="TextBox 13" id="13"/>
          <p:cNvSpPr txBox="true"/>
          <p:nvPr/>
        </p:nvSpPr>
        <p:spPr>
          <a:xfrm rot="0">
            <a:off x="12464838" y="3259893"/>
            <a:ext cx="4794462" cy="415290"/>
          </a:xfrm>
          <a:prstGeom prst="rect">
            <a:avLst/>
          </a:prstGeom>
        </p:spPr>
        <p:txBody>
          <a:bodyPr anchor="t" rtlCol="false" tIns="0" lIns="0" bIns="0" rIns="0">
            <a:spAutoFit/>
          </a:bodyPr>
          <a:lstStyle/>
          <a:p>
            <a:pPr algn="l" marL="0" indent="0" lvl="0">
              <a:lnSpc>
                <a:spcPts val="3380"/>
              </a:lnSpc>
              <a:spcBef>
                <a:spcPct val="0"/>
              </a:spcBef>
            </a:pPr>
            <a:r>
              <a:rPr lang="en-US" sz="2600" u="none">
                <a:solidFill>
                  <a:srgbClr val="FAFAFA"/>
                </a:solidFill>
                <a:latin typeface="Montserrat"/>
                <a:ea typeface="Montserrat"/>
                <a:cs typeface="Montserrat"/>
                <a:sym typeface="Montserrat"/>
              </a:rPr>
              <a:t>Giám đốc điều hành</a:t>
            </a:r>
          </a:p>
        </p:txBody>
      </p:sp>
      <p:sp>
        <p:nvSpPr>
          <p:cNvPr name="TextBox 14" id="14"/>
          <p:cNvSpPr txBox="true"/>
          <p:nvPr/>
        </p:nvSpPr>
        <p:spPr>
          <a:xfrm rot="0">
            <a:off x="12464838" y="4623752"/>
            <a:ext cx="4794462" cy="556260"/>
          </a:xfrm>
          <a:prstGeom prst="rect">
            <a:avLst/>
          </a:prstGeom>
        </p:spPr>
        <p:txBody>
          <a:bodyPr anchor="t" rtlCol="false" tIns="0" lIns="0" bIns="0" rIns="0">
            <a:spAutoFit/>
          </a:bodyPr>
          <a:lstStyle/>
          <a:p>
            <a:pPr algn="l">
              <a:lnSpc>
                <a:spcPts val="4420"/>
              </a:lnSpc>
            </a:pPr>
            <a:r>
              <a:rPr lang="en-US" b="true" sz="3400">
                <a:solidFill>
                  <a:srgbClr val="C22B23"/>
                </a:solidFill>
                <a:latin typeface="Montserrat Medium"/>
                <a:ea typeface="Montserrat Medium"/>
                <a:cs typeface="Montserrat Medium"/>
                <a:sym typeface="Montserrat Medium"/>
              </a:rPr>
              <a:t>Đinh Xuân Hữu</a:t>
            </a:r>
          </a:p>
        </p:txBody>
      </p:sp>
      <p:sp>
        <p:nvSpPr>
          <p:cNvPr name="TextBox 15" id="15"/>
          <p:cNvSpPr txBox="true"/>
          <p:nvPr/>
        </p:nvSpPr>
        <p:spPr>
          <a:xfrm rot="0">
            <a:off x="12464838" y="5279325"/>
            <a:ext cx="4794462" cy="415290"/>
          </a:xfrm>
          <a:prstGeom prst="rect">
            <a:avLst/>
          </a:prstGeom>
        </p:spPr>
        <p:txBody>
          <a:bodyPr anchor="t" rtlCol="false" tIns="0" lIns="0" bIns="0" rIns="0">
            <a:spAutoFit/>
          </a:bodyPr>
          <a:lstStyle/>
          <a:p>
            <a:pPr algn="l" marL="0" indent="0" lvl="0">
              <a:lnSpc>
                <a:spcPts val="3380"/>
              </a:lnSpc>
              <a:spcBef>
                <a:spcPct val="0"/>
              </a:spcBef>
            </a:pPr>
            <a:r>
              <a:rPr lang="en-US" sz="2600" u="none">
                <a:solidFill>
                  <a:srgbClr val="FAFAFA"/>
                </a:solidFill>
                <a:latin typeface="Montserrat"/>
                <a:ea typeface="Montserrat"/>
                <a:cs typeface="Montserrat"/>
                <a:sym typeface="Montserrat"/>
              </a:rPr>
              <a:t>Giám đốc tài chính</a:t>
            </a:r>
          </a:p>
        </p:txBody>
      </p:sp>
      <p:sp>
        <p:nvSpPr>
          <p:cNvPr name="TextBox 16" id="16"/>
          <p:cNvSpPr txBox="true"/>
          <p:nvPr/>
        </p:nvSpPr>
        <p:spPr>
          <a:xfrm rot="0">
            <a:off x="12464838" y="6684394"/>
            <a:ext cx="4794462" cy="556260"/>
          </a:xfrm>
          <a:prstGeom prst="rect">
            <a:avLst/>
          </a:prstGeom>
        </p:spPr>
        <p:txBody>
          <a:bodyPr anchor="t" rtlCol="false" tIns="0" lIns="0" bIns="0" rIns="0">
            <a:spAutoFit/>
          </a:bodyPr>
          <a:lstStyle/>
          <a:p>
            <a:pPr algn="l">
              <a:lnSpc>
                <a:spcPts val="4420"/>
              </a:lnSpc>
            </a:pPr>
            <a:r>
              <a:rPr lang="en-US" b="true" sz="3400">
                <a:solidFill>
                  <a:srgbClr val="C22B23"/>
                </a:solidFill>
                <a:latin typeface="Montserrat Medium"/>
                <a:ea typeface="Montserrat Medium"/>
                <a:cs typeface="Montserrat Medium"/>
                <a:sym typeface="Montserrat Medium"/>
              </a:rPr>
              <a:t>Phạm Tuấn Khôi</a:t>
            </a:r>
          </a:p>
        </p:txBody>
      </p:sp>
      <p:sp>
        <p:nvSpPr>
          <p:cNvPr name="TextBox 17" id="17"/>
          <p:cNvSpPr txBox="true"/>
          <p:nvPr/>
        </p:nvSpPr>
        <p:spPr>
          <a:xfrm rot="0">
            <a:off x="12464838" y="7339967"/>
            <a:ext cx="4794462" cy="415290"/>
          </a:xfrm>
          <a:prstGeom prst="rect">
            <a:avLst/>
          </a:prstGeom>
        </p:spPr>
        <p:txBody>
          <a:bodyPr anchor="t" rtlCol="false" tIns="0" lIns="0" bIns="0" rIns="0">
            <a:spAutoFit/>
          </a:bodyPr>
          <a:lstStyle/>
          <a:p>
            <a:pPr algn="l" marL="0" indent="0" lvl="0">
              <a:lnSpc>
                <a:spcPts val="3380"/>
              </a:lnSpc>
              <a:spcBef>
                <a:spcPct val="0"/>
              </a:spcBef>
            </a:pPr>
            <a:r>
              <a:rPr lang="en-US" sz="2600" u="none">
                <a:solidFill>
                  <a:srgbClr val="FAFAFA"/>
                </a:solidFill>
                <a:latin typeface="Montserrat"/>
                <a:ea typeface="Montserrat"/>
                <a:cs typeface="Montserrat"/>
                <a:sym typeface="Montserrat"/>
              </a:rPr>
              <a:t>Giám đốc</a:t>
            </a:r>
          </a:p>
        </p:txBody>
      </p:sp>
      <p:grpSp>
        <p:nvGrpSpPr>
          <p:cNvPr name="Group 18" id="18"/>
          <p:cNvGrpSpPr>
            <a:grpSpLocks noChangeAspect="true"/>
          </p:cNvGrpSpPr>
          <p:nvPr/>
        </p:nvGrpSpPr>
        <p:grpSpPr>
          <a:xfrm rot="0">
            <a:off x="-2699856" y="9258300"/>
            <a:ext cx="10058400" cy="3817219"/>
            <a:chOff x="0" y="0"/>
            <a:chExt cx="5399224" cy="2049036"/>
          </a:xfrm>
        </p:grpSpPr>
        <p:sp>
          <p:nvSpPr>
            <p:cNvPr name="Freeform 19" id="19"/>
            <p:cNvSpPr/>
            <p:nvPr/>
          </p:nvSpPr>
          <p:spPr>
            <a:xfrm flipH="false" flipV="false" rot="0">
              <a:off x="0" y="0"/>
              <a:ext cx="5399224" cy="2049036"/>
            </a:xfrm>
            <a:custGeom>
              <a:avLst/>
              <a:gdLst/>
              <a:ahLst/>
              <a:cxnLst/>
              <a:rect r="r" b="b" t="t" l="l"/>
              <a:pathLst>
                <a:path h="2049036" w="5399224">
                  <a:moveTo>
                    <a:pt x="1138182" y="2049036"/>
                  </a:moveTo>
                  <a:lnTo>
                    <a:pt x="0" y="2049036"/>
                  </a:lnTo>
                  <a:lnTo>
                    <a:pt x="2049036" y="0"/>
                  </a:lnTo>
                  <a:lnTo>
                    <a:pt x="3187218" y="0"/>
                  </a:lnTo>
                  <a:lnTo>
                    <a:pt x="1138182" y="2049036"/>
                  </a:lnTo>
                  <a:close/>
                  <a:moveTo>
                    <a:pt x="5399224" y="0"/>
                  </a:moveTo>
                  <a:lnTo>
                    <a:pt x="4261042" y="0"/>
                  </a:lnTo>
                  <a:lnTo>
                    <a:pt x="2212007" y="2049036"/>
                  </a:lnTo>
                  <a:lnTo>
                    <a:pt x="3350189" y="2049036"/>
                  </a:lnTo>
                  <a:lnTo>
                    <a:pt x="5399224" y="0"/>
                  </a:lnTo>
                  <a:close/>
                </a:path>
              </a:pathLst>
            </a:custGeom>
            <a:solidFill>
              <a:srgbClr val="1E1D1D"/>
            </a:solidFill>
          </p:spPr>
        </p:sp>
        <p:sp>
          <p:nvSpPr>
            <p:cNvPr name="Freeform 20" id="20"/>
            <p:cNvSpPr/>
            <p:nvPr/>
          </p:nvSpPr>
          <p:spPr>
            <a:xfrm flipH="false" flipV="false" rot="0">
              <a:off x="0" y="0"/>
              <a:ext cx="5399224" cy="2049036"/>
            </a:xfrm>
            <a:custGeom>
              <a:avLst/>
              <a:gdLst/>
              <a:ahLst/>
              <a:cxnLst/>
              <a:rect r="r" b="b" t="t" l="l"/>
              <a:pathLst>
                <a:path h="2049036" w="5399224">
                  <a:moveTo>
                    <a:pt x="1138182" y="2049036"/>
                  </a:moveTo>
                  <a:lnTo>
                    <a:pt x="0" y="2049036"/>
                  </a:lnTo>
                  <a:lnTo>
                    <a:pt x="2049036" y="0"/>
                  </a:lnTo>
                  <a:lnTo>
                    <a:pt x="3187218" y="0"/>
                  </a:lnTo>
                  <a:lnTo>
                    <a:pt x="1138182" y="2049036"/>
                  </a:lnTo>
                  <a:close/>
                  <a:moveTo>
                    <a:pt x="5399224" y="0"/>
                  </a:moveTo>
                  <a:lnTo>
                    <a:pt x="4261042" y="0"/>
                  </a:lnTo>
                  <a:lnTo>
                    <a:pt x="2212007" y="2049036"/>
                  </a:lnTo>
                  <a:lnTo>
                    <a:pt x="3350189" y="2049036"/>
                  </a:lnTo>
                  <a:lnTo>
                    <a:pt x="5399224" y="0"/>
                  </a:lnTo>
                  <a:close/>
                </a:path>
              </a:pathLst>
            </a:custGeom>
            <a:solidFill>
              <a:srgbClr val="C22B23"/>
            </a:solidFill>
          </p:spPr>
        </p:sp>
      </p:grpSp>
      <p:grpSp>
        <p:nvGrpSpPr>
          <p:cNvPr name="Group 21" id="21"/>
          <p:cNvGrpSpPr/>
          <p:nvPr/>
        </p:nvGrpSpPr>
        <p:grpSpPr>
          <a:xfrm rot="0">
            <a:off x="520369" y="241859"/>
            <a:ext cx="9218462" cy="1573682"/>
            <a:chOff x="0" y="0"/>
            <a:chExt cx="12291283" cy="2098242"/>
          </a:xfrm>
        </p:grpSpPr>
        <p:grpSp>
          <p:nvGrpSpPr>
            <p:cNvPr name="Group 22" id="22"/>
            <p:cNvGrpSpPr/>
            <p:nvPr/>
          </p:nvGrpSpPr>
          <p:grpSpPr>
            <a:xfrm rot="0">
              <a:off x="0" y="0"/>
              <a:ext cx="12291283" cy="2098242"/>
              <a:chOff x="0" y="0"/>
              <a:chExt cx="6013624" cy="1030712"/>
            </a:xfrm>
          </p:grpSpPr>
          <p:sp>
            <p:nvSpPr>
              <p:cNvPr name="Freeform 23" id="23"/>
              <p:cNvSpPr/>
              <p:nvPr/>
            </p:nvSpPr>
            <p:spPr>
              <a:xfrm flipH="false" flipV="false" rot="0">
                <a:off x="0" y="0"/>
                <a:ext cx="6013624" cy="1030712"/>
              </a:xfrm>
              <a:custGeom>
                <a:avLst/>
                <a:gdLst/>
                <a:ahLst/>
                <a:cxnLst/>
                <a:rect r="r" b="b" t="t" l="l"/>
                <a:pathLst>
                  <a:path h="1030712" w="6013624">
                    <a:moveTo>
                      <a:pt x="5889164" y="1030712"/>
                    </a:moveTo>
                    <a:lnTo>
                      <a:pt x="124460" y="1030712"/>
                    </a:lnTo>
                    <a:cubicBezTo>
                      <a:pt x="55880" y="1030712"/>
                      <a:pt x="0" y="974832"/>
                      <a:pt x="0" y="906252"/>
                    </a:cubicBezTo>
                    <a:lnTo>
                      <a:pt x="0" y="124460"/>
                    </a:lnTo>
                    <a:cubicBezTo>
                      <a:pt x="0" y="55880"/>
                      <a:pt x="55880" y="0"/>
                      <a:pt x="124460" y="0"/>
                    </a:cubicBezTo>
                    <a:lnTo>
                      <a:pt x="5889164" y="0"/>
                    </a:lnTo>
                    <a:cubicBezTo>
                      <a:pt x="5957744" y="0"/>
                      <a:pt x="6013624" y="55880"/>
                      <a:pt x="6013624" y="124460"/>
                    </a:cubicBezTo>
                    <a:lnTo>
                      <a:pt x="6013624" y="906252"/>
                    </a:lnTo>
                    <a:cubicBezTo>
                      <a:pt x="6013624" y="974832"/>
                      <a:pt x="5957744" y="1030712"/>
                      <a:pt x="5889164" y="1030712"/>
                    </a:cubicBezTo>
                    <a:close/>
                  </a:path>
                </a:pathLst>
              </a:custGeom>
              <a:solidFill>
                <a:srgbClr val="FAFAFA"/>
              </a:solidFill>
            </p:spPr>
          </p:sp>
        </p:grpSp>
        <p:sp>
          <p:nvSpPr>
            <p:cNvPr name="TextBox 24" id="24"/>
            <p:cNvSpPr txBox="true"/>
            <p:nvPr/>
          </p:nvSpPr>
          <p:spPr>
            <a:xfrm rot="0">
              <a:off x="1640310" y="1433677"/>
              <a:ext cx="9712067" cy="332105"/>
            </a:xfrm>
            <a:prstGeom prst="rect">
              <a:avLst/>
            </a:prstGeom>
          </p:spPr>
          <p:txBody>
            <a:bodyPr anchor="t" rtlCol="false" tIns="0" lIns="0" bIns="0" rIns="0">
              <a:spAutoFit/>
            </a:bodyPr>
            <a:lstStyle/>
            <a:p>
              <a:pPr algn="l">
                <a:lnSpc>
                  <a:spcPts val="2100"/>
                </a:lnSpc>
                <a:spcBef>
                  <a:spcPct val="0"/>
                </a:spcBef>
              </a:pPr>
              <a:r>
                <a:rPr lang="en-US" sz="1400" i="true">
                  <a:solidFill>
                    <a:srgbClr val="C22B23"/>
                  </a:solidFill>
                  <a:latin typeface="Montserrat Italics"/>
                  <a:ea typeface="Montserrat Italics"/>
                  <a:cs typeface="Montserrat Italics"/>
                  <a:sym typeface="Montserrat Italics"/>
                </a:rPr>
                <a:t>Vui lòng xóa ghi chú sau khi chỉnh sửa trang này.</a:t>
              </a:r>
            </a:p>
          </p:txBody>
        </p:sp>
        <p:sp>
          <p:nvSpPr>
            <p:cNvPr name="TextBox 25" id="25"/>
            <p:cNvSpPr txBox="true"/>
            <p:nvPr/>
          </p:nvSpPr>
          <p:spPr>
            <a:xfrm rot="0">
              <a:off x="1640310" y="294360"/>
              <a:ext cx="9712067" cy="820420"/>
            </a:xfrm>
            <a:prstGeom prst="rect">
              <a:avLst/>
            </a:prstGeom>
          </p:spPr>
          <p:txBody>
            <a:bodyPr anchor="t" rtlCol="false" tIns="0" lIns="0" bIns="0" rIns="0">
              <a:spAutoFit/>
            </a:bodyPr>
            <a:lstStyle/>
            <a:p>
              <a:pPr algn="l" marL="0" indent="0" lvl="0">
                <a:lnSpc>
                  <a:spcPts val="1650"/>
                </a:lnSpc>
                <a:spcBef>
                  <a:spcPct val="0"/>
                </a:spcBef>
              </a:pPr>
              <a:r>
                <a:rPr lang="en-US" sz="1100" u="none">
                  <a:solidFill>
                    <a:srgbClr val="1E1D1D"/>
                  </a:solidFill>
                  <a:latin typeface="Montserrat"/>
                  <a:ea typeface="Montserrat"/>
                  <a:cs typeface="Montserrat"/>
                  <a:sym typeface="Montserrat"/>
                  <a:hlinkClick r:id="rId5" tooltip="https://docs.google.com/spreadsheets/d/1DUF2isFWsqVSYhbaACYtbgcLi_YjDqpE3GLQIVgkKQg/edit#gid=69851113"/>
                </a:rPr>
                <a:t>Mô tả các thành viên chủ chốt trong ban lãnh đạo, hội đồng quản trị và ban cố vấn cũng như các nhà đầu tư lớn của bạn. Việc bạn không có được một đội ngũ hoàn hảo cũng sẽ không sao cả. Nếu đội ngũ của bạn hoàn hảo, bạn sẽ không phải thuyết phục nhà đầu tư rót vốn vào công ty của mình.</a:t>
              </a:r>
            </a:p>
          </p:txBody>
        </p:sp>
        <p:sp>
          <p:nvSpPr>
            <p:cNvPr name="Freeform 26" id="26"/>
            <p:cNvSpPr/>
            <p:nvPr/>
          </p:nvSpPr>
          <p:spPr>
            <a:xfrm flipH="false" flipV="false" rot="0">
              <a:off x="374605" y="649434"/>
              <a:ext cx="747914" cy="799374"/>
            </a:xfrm>
            <a:custGeom>
              <a:avLst/>
              <a:gdLst/>
              <a:ahLst/>
              <a:cxnLst/>
              <a:rect r="r" b="b" t="t" l="l"/>
              <a:pathLst>
                <a:path h="799374" w="747914">
                  <a:moveTo>
                    <a:pt x="0" y="0"/>
                  </a:moveTo>
                  <a:lnTo>
                    <a:pt x="747914" y="0"/>
                  </a:lnTo>
                  <a:lnTo>
                    <a:pt x="747914" y="799374"/>
                  </a:lnTo>
                  <a:lnTo>
                    <a:pt x="0" y="799374"/>
                  </a:lnTo>
                  <a:lnTo>
                    <a:pt x="0" y="0"/>
                  </a:lnTo>
                  <a:close/>
                </a:path>
              </a:pathLst>
            </a:custGeom>
            <a:blipFill>
              <a:blip r:embed="rId6"/>
              <a:stretch>
                <a:fillRect l="0" t="0" r="0" b="0"/>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C22B23"/>
        </a:solidFill>
      </p:bgPr>
    </p:bg>
    <p:spTree>
      <p:nvGrpSpPr>
        <p:cNvPr id="1" name=""/>
        <p:cNvGrpSpPr/>
        <p:nvPr/>
      </p:nvGrpSpPr>
      <p:grpSpPr>
        <a:xfrm>
          <a:off x="0" y="0"/>
          <a:ext cx="0" cy="0"/>
          <a:chOff x="0" y="0"/>
          <a:chExt cx="0" cy="0"/>
        </a:xfrm>
      </p:grpSpPr>
      <p:sp>
        <p:nvSpPr>
          <p:cNvPr name="TextBox 2" id="2"/>
          <p:cNvSpPr txBox="true"/>
          <p:nvPr/>
        </p:nvSpPr>
        <p:spPr>
          <a:xfrm rot="0">
            <a:off x="1028700" y="1257300"/>
            <a:ext cx="8115300" cy="2900680"/>
          </a:xfrm>
          <a:prstGeom prst="rect">
            <a:avLst/>
          </a:prstGeom>
        </p:spPr>
        <p:txBody>
          <a:bodyPr anchor="t" rtlCol="false" tIns="0" lIns="0" bIns="0" rIns="0">
            <a:spAutoFit/>
          </a:bodyPr>
          <a:lstStyle/>
          <a:p>
            <a:pPr algn="l">
              <a:lnSpc>
                <a:spcPts val="11199"/>
              </a:lnSpc>
            </a:pPr>
            <a:r>
              <a:rPr lang="en-US" b="true" sz="11199" spc="111">
                <a:solidFill>
                  <a:srgbClr val="FAFAFA"/>
                </a:solidFill>
                <a:latin typeface="Saira ExtraCondensed Heavy"/>
                <a:ea typeface="Saira ExtraCondensed Heavy"/>
                <a:cs typeface="Saira ExtraCondensed Heavy"/>
                <a:sym typeface="Saira ExtraCondensed Heavy"/>
              </a:rPr>
              <a:t>Dự báo tài chính và các chỉ số chính</a:t>
            </a:r>
          </a:p>
        </p:txBody>
      </p:sp>
      <p:sp>
        <p:nvSpPr>
          <p:cNvPr name="TextBox 3" id="3"/>
          <p:cNvSpPr txBox="true"/>
          <p:nvPr/>
        </p:nvSpPr>
        <p:spPr>
          <a:xfrm rot="0">
            <a:off x="1028700" y="5371812"/>
            <a:ext cx="5029200" cy="846137"/>
          </a:xfrm>
          <a:prstGeom prst="rect">
            <a:avLst/>
          </a:prstGeom>
        </p:spPr>
        <p:txBody>
          <a:bodyPr anchor="t" rtlCol="false" tIns="0" lIns="0" bIns="0" rIns="0">
            <a:spAutoFit/>
          </a:bodyPr>
          <a:lstStyle/>
          <a:p>
            <a:pPr algn="l" marL="0" indent="0" lvl="0">
              <a:lnSpc>
                <a:spcPts val="3347"/>
              </a:lnSpc>
              <a:spcBef>
                <a:spcPct val="0"/>
              </a:spcBef>
            </a:pPr>
            <a:r>
              <a:rPr lang="en-US" sz="2574" u="none">
                <a:solidFill>
                  <a:srgbClr val="FAFAFA"/>
                </a:solidFill>
                <a:latin typeface="Montserrat"/>
                <a:ea typeface="Montserrat"/>
                <a:cs typeface="Montserrat"/>
                <a:sym typeface="Montserrat"/>
              </a:rPr>
              <a:t>Hãy trình bày ngắn gọn về những gì bạn muốn thảo luận.</a:t>
            </a:r>
          </a:p>
        </p:txBody>
      </p:sp>
      <p:sp>
        <p:nvSpPr>
          <p:cNvPr name="TextBox 4" id="4"/>
          <p:cNvSpPr txBox="true"/>
          <p:nvPr/>
        </p:nvSpPr>
        <p:spPr>
          <a:xfrm rot="0">
            <a:off x="11548912" y="2613084"/>
            <a:ext cx="4755959" cy="445770"/>
          </a:xfrm>
          <a:prstGeom prst="rect">
            <a:avLst/>
          </a:prstGeom>
        </p:spPr>
        <p:txBody>
          <a:bodyPr anchor="t" rtlCol="false" tIns="0" lIns="0" bIns="0" rIns="0">
            <a:spAutoFit/>
          </a:bodyPr>
          <a:lstStyle/>
          <a:p>
            <a:pPr algn="ctr" marL="0" indent="0" lvl="0">
              <a:lnSpc>
                <a:spcPts val="3639"/>
              </a:lnSpc>
              <a:spcBef>
                <a:spcPct val="0"/>
              </a:spcBef>
            </a:pPr>
            <a:r>
              <a:rPr lang="en-US" sz="2799" u="none">
                <a:solidFill>
                  <a:srgbClr val="FAFAFA"/>
                </a:solidFill>
                <a:latin typeface="Montserrat"/>
                <a:ea typeface="Montserrat"/>
                <a:cs typeface="Montserrat"/>
                <a:sym typeface="Montserrat"/>
              </a:rPr>
              <a:t>Chủ đề 1</a:t>
            </a:r>
          </a:p>
        </p:txBody>
      </p:sp>
      <p:grpSp>
        <p:nvGrpSpPr>
          <p:cNvPr name="Group 5" id="5"/>
          <p:cNvGrpSpPr/>
          <p:nvPr/>
        </p:nvGrpSpPr>
        <p:grpSpPr>
          <a:xfrm rot="0">
            <a:off x="1028700" y="7141891"/>
            <a:ext cx="7109621" cy="1905589"/>
            <a:chOff x="0" y="0"/>
            <a:chExt cx="9479494" cy="2540786"/>
          </a:xfrm>
        </p:grpSpPr>
        <p:grpSp>
          <p:nvGrpSpPr>
            <p:cNvPr name="Group 6" id="6"/>
            <p:cNvGrpSpPr/>
            <p:nvPr/>
          </p:nvGrpSpPr>
          <p:grpSpPr>
            <a:xfrm rot="0">
              <a:off x="0" y="0"/>
              <a:ext cx="9479494" cy="2540786"/>
              <a:chOff x="0" y="0"/>
              <a:chExt cx="4637930" cy="1248101"/>
            </a:xfrm>
          </p:grpSpPr>
          <p:sp>
            <p:nvSpPr>
              <p:cNvPr name="Freeform 7" id="7"/>
              <p:cNvSpPr/>
              <p:nvPr/>
            </p:nvSpPr>
            <p:spPr>
              <a:xfrm flipH="false" flipV="false" rot="0">
                <a:off x="0" y="0"/>
                <a:ext cx="4637930" cy="1248101"/>
              </a:xfrm>
              <a:custGeom>
                <a:avLst/>
                <a:gdLst/>
                <a:ahLst/>
                <a:cxnLst/>
                <a:rect r="r" b="b" t="t" l="l"/>
                <a:pathLst>
                  <a:path h="1248101" w="4637930">
                    <a:moveTo>
                      <a:pt x="4513470" y="1248101"/>
                    </a:moveTo>
                    <a:lnTo>
                      <a:pt x="124460" y="1248101"/>
                    </a:lnTo>
                    <a:cubicBezTo>
                      <a:pt x="55880" y="1248101"/>
                      <a:pt x="0" y="1192221"/>
                      <a:pt x="0" y="1123641"/>
                    </a:cubicBezTo>
                    <a:lnTo>
                      <a:pt x="0" y="124460"/>
                    </a:lnTo>
                    <a:cubicBezTo>
                      <a:pt x="0" y="55880"/>
                      <a:pt x="55880" y="0"/>
                      <a:pt x="124460" y="0"/>
                    </a:cubicBezTo>
                    <a:lnTo>
                      <a:pt x="4513470" y="0"/>
                    </a:lnTo>
                    <a:cubicBezTo>
                      <a:pt x="4582050" y="0"/>
                      <a:pt x="4637930" y="55880"/>
                      <a:pt x="4637930" y="124460"/>
                    </a:cubicBezTo>
                    <a:lnTo>
                      <a:pt x="4637930" y="1123641"/>
                    </a:lnTo>
                    <a:cubicBezTo>
                      <a:pt x="4637930" y="1192221"/>
                      <a:pt x="4582050" y="1248101"/>
                      <a:pt x="4513470" y="1248101"/>
                    </a:cubicBezTo>
                    <a:close/>
                  </a:path>
                </a:pathLst>
              </a:custGeom>
              <a:solidFill>
                <a:srgbClr val="FAFAFA"/>
              </a:solidFill>
            </p:spPr>
          </p:sp>
        </p:grpSp>
        <p:sp>
          <p:nvSpPr>
            <p:cNvPr name="TextBox 8" id="8"/>
            <p:cNvSpPr txBox="true"/>
            <p:nvPr/>
          </p:nvSpPr>
          <p:spPr>
            <a:xfrm rot="0">
              <a:off x="2032767" y="1717410"/>
              <a:ext cx="6754866" cy="332105"/>
            </a:xfrm>
            <a:prstGeom prst="rect">
              <a:avLst/>
            </a:prstGeom>
          </p:spPr>
          <p:txBody>
            <a:bodyPr anchor="t" rtlCol="false" tIns="0" lIns="0" bIns="0" rIns="0">
              <a:spAutoFit/>
            </a:bodyPr>
            <a:lstStyle/>
            <a:p>
              <a:pPr algn="l">
                <a:lnSpc>
                  <a:spcPts val="2100"/>
                </a:lnSpc>
                <a:spcBef>
                  <a:spcPct val="0"/>
                </a:spcBef>
              </a:pPr>
              <a:r>
                <a:rPr lang="en-US" sz="1400" i="true">
                  <a:solidFill>
                    <a:srgbClr val="C22B23"/>
                  </a:solidFill>
                  <a:latin typeface="Montserrat Italics"/>
                  <a:ea typeface="Montserrat Italics"/>
                  <a:cs typeface="Montserrat Italics"/>
                  <a:sym typeface="Montserrat Italics"/>
                </a:rPr>
                <a:t>Vui lòng xóa ghi chú sau khi chỉnh sửa trang này.</a:t>
              </a:r>
            </a:p>
          </p:txBody>
        </p:sp>
        <p:sp>
          <p:nvSpPr>
            <p:cNvPr name="TextBox 9" id="9"/>
            <p:cNvSpPr txBox="true"/>
            <p:nvPr/>
          </p:nvSpPr>
          <p:spPr>
            <a:xfrm rot="0">
              <a:off x="2032767" y="453171"/>
              <a:ext cx="6754866" cy="820420"/>
            </a:xfrm>
            <a:prstGeom prst="rect">
              <a:avLst/>
            </a:prstGeom>
          </p:spPr>
          <p:txBody>
            <a:bodyPr anchor="t" rtlCol="false" tIns="0" lIns="0" bIns="0" rIns="0">
              <a:spAutoFit/>
            </a:bodyPr>
            <a:lstStyle/>
            <a:p>
              <a:pPr algn="l" marL="0" indent="0" lvl="0">
                <a:lnSpc>
                  <a:spcPts val="1650"/>
                </a:lnSpc>
                <a:spcBef>
                  <a:spcPct val="0"/>
                </a:spcBef>
              </a:pPr>
              <a:r>
                <a:rPr lang="en-US" sz="1100" u="none">
                  <a:solidFill>
                    <a:srgbClr val="1E1D1D"/>
                  </a:solidFill>
                  <a:latin typeface="Montserrat"/>
                  <a:ea typeface="Montserrat"/>
                  <a:cs typeface="Montserrat"/>
                  <a:sym typeface="Montserrat"/>
                  <a:hlinkClick r:id="rId2" tooltip="https://docs.google.com/spreadsheets/d/1DUF2isFWsqVSYhbaACYtbgcLi_YjDqpE3GLQIVgkKQg/edit#gid=69851113"/>
                </a:rPr>
                <a:t>Cung cấp dự báo trong vòng ba năm có đề cập đến số liệu về</a:t>
              </a:r>
            </a:p>
            <a:p>
              <a:pPr algn="l" marL="0" indent="0" lvl="0">
                <a:lnSpc>
                  <a:spcPts val="1650"/>
                </a:lnSpc>
                <a:spcBef>
                  <a:spcPct val="0"/>
                </a:spcBef>
              </a:pPr>
              <a:r>
                <a:rPr lang="en-US" sz="1100" u="none">
                  <a:solidFill>
                    <a:srgbClr val="1E1D1D"/>
                  </a:solidFill>
                  <a:latin typeface="Montserrat"/>
                  <a:ea typeface="Montserrat"/>
                  <a:cs typeface="Montserrat"/>
                  <a:sym typeface="Montserrat"/>
                  <a:hlinkClick r:id="rId3" tooltip="https://docs.google.com/spreadsheets/d/1DUF2isFWsqVSYhbaACYtbgcLi_YjDqpE3GLQIVgkKQg/edit#gid=69851113"/>
                </a:rPr>
                <a:t>tài chính và các chỉ số chính như số lượng khách hàng và tỷ lệ</a:t>
              </a:r>
            </a:p>
            <a:p>
              <a:pPr algn="l" marL="0" indent="0" lvl="0">
                <a:lnSpc>
                  <a:spcPts val="1650"/>
                </a:lnSpc>
                <a:spcBef>
                  <a:spcPct val="0"/>
                </a:spcBef>
              </a:pPr>
              <a:r>
                <a:rPr lang="en-US" sz="1100" u="none">
                  <a:solidFill>
                    <a:srgbClr val="1E1D1D"/>
                  </a:solidFill>
                  <a:latin typeface="Montserrat"/>
                  <a:ea typeface="Montserrat"/>
                  <a:cs typeface="Montserrat"/>
                  <a:sym typeface="Montserrat"/>
                  <a:hlinkClick r:id="rId4" tooltip="https://docs.google.com/spreadsheets/d/1DUF2isFWsqVSYhbaACYtbgcLi_YjDqpE3GLQIVgkKQg/edit#gid=69851113"/>
                </a:rPr>
                <a:t>chuyển đổi. Thực hiện phân tích từ dưới lên, không phải từ trên xuống.</a:t>
              </a:r>
            </a:p>
          </p:txBody>
        </p:sp>
        <p:sp>
          <p:nvSpPr>
            <p:cNvPr name="Freeform 10" id="10"/>
            <p:cNvSpPr/>
            <p:nvPr/>
          </p:nvSpPr>
          <p:spPr>
            <a:xfrm flipH="false" flipV="false" rot="0">
              <a:off x="656454" y="870706"/>
              <a:ext cx="747914" cy="799374"/>
            </a:xfrm>
            <a:custGeom>
              <a:avLst/>
              <a:gdLst/>
              <a:ahLst/>
              <a:cxnLst/>
              <a:rect r="r" b="b" t="t" l="l"/>
              <a:pathLst>
                <a:path h="799374" w="747914">
                  <a:moveTo>
                    <a:pt x="0" y="0"/>
                  </a:moveTo>
                  <a:lnTo>
                    <a:pt x="747915" y="0"/>
                  </a:lnTo>
                  <a:lnTo>
                    <a:pt x="747915" y="799374"/>
                  </a:lnTo>
                  <a:lnTo>
                    <a:pt x="0" y="799374"/>
                  </a:lnTo>
                  <a:lnTo>
                    <a:pt x="0" y="0"/>
                  </a:lnTo>
                  <a:close/>
                </a:path>
              </a:pathLst>
            </a:custGeom>
            <a:blipFill>
              <a:blip r:embed="rId5"/>
              <a:stretch>
                <a:fillRect l="0" t="0" r="0" b="0"/>
              </a:stretch>
            </a:blipFill>
          </p:spPr>
        </p:sp>
      </p:grpSp>
      <p:grpSp>
        <p:nvGrpSpPr>
          <p:cNvPr name="Group 11" id="11"/>
          <p:cNvGrpSpPr/>
          <p:nvPr/>
        </p:nvGrpSpPr>
        <p:grpSpPr>
          <a:xfrm rot="0">
            <a:off x="10990406" y="1028700"/>
            <a:ext cx="5872972" cy="1128657"/>
            <a:chOff x="0" y="0"/>
            <a:chExt cx="7830629" cy="1504876"/>
          </a:xfrm>
        </p:grpSpPr>
        <p:sp>
          <p:nvSpPr>
            <p:cNvPr name="AutoShape 12" id="12"/>
            <p:cNvSpPr/>
            <p:nvPr/>
          </p:nvSpPr>
          <p:spPr>
            <a:xfrm rot="0">
              <a:off x="0" y="0"/>
              <a:ext cx="7830629" cy="1504876"/>
            </a:xfrm>
            <a:prstGeom prst="rect">
              <a:avLst/>
            </a:prstGeom>
            <a:solidFill>
              <a:srgbClr val="1E1D1D"/>
            </a:solidFill>
          </p:spPr>
        </p:sp>
        <p:sp>
          <p:nvSpPr>
            <p:cNvPr name="TextBox 13" id="13"/>
            <p:cNvSpPr txBox="true"/>
            <p:nvPr/>
          </p:nvSpPr>
          <p:spPr>
            <a:xfrm rot="0">
              <a:off x="732925" y="234913"/>
              <a:ext cx="6429739" cy="1025525"/>
            </a:xfrm>
            <a:prstGeom prst="rect">
              <a:avLst/>
            </a:prstGeom>
          </p:spPr>
          <p:txBody>
            <a:bodyPr anchor="t" rtlCol="false" tIns="0" lIns="0" bIns="0" rIns="0">
              <a:spAutoFit/>
            </a:bodyPr>
            <a:lstStyle/>
            <a:p>
              <a:pPr algn="ctr" marL="0" indent="0" lvl="0">
                <a:lnSpc>
                  <a:spcPts val="6000"/>
                </a:lnSpc>
              </a:pPr>
              <a:r>
                <a:rPr lang="en-US" b="true" sz="5000" u="none">
                  <a:solidFill>
                    <a:srgbClr val="FAFAFA"/>
                  </a:solidFill>
                  <a:latin typeface="Saira ExtraCondensed Bold"/>
                  <a:ea typeface="Saira ExtraCondensed Bold"/>
                  <a:cs typeface="Saira ExtraCondensed Bold"/>
                  <a:sym typeface="Saira ExtraCondensed Bold"/>
                </a:rPr>
                <a:t>300.000</a:t>
              </a:r>
            </a:p>
          </p:txBody>
        </p:sp>
      </p:grpSp>
      <p:sp>
        <p:nvSpPr>
          <p:cNvPr name="TextBox 14" id="14"/>
          <p:cNvSpPr txBox="true"/>
          <p:nvPr/>
        </p:nvSpPr>
        <p:spPr>
          <a:xfrm rot="0">
            <a:off x="11548912" y="5609937"/>
            <a:ext cx="4755959" cy="445770"/>
          </a:xfrm>
          <a:prstGeom prst="rect">
            <a:avLst/>
          </a:prstGeom>
        </p:spPr>
        <p:txBody>
          <a:bodyPr anchor="t" rtlCol="false" tIns="0" lIns="0" bIns="0" rIns="0">
            <a:spAutoFit/>
          </a:bodyPr>
          <a:lstStyle/>
          <a:p>
            <a:pPr algn="ctr" marL="0" indent="0" lvl="0">
              <a:lnSpc>
                <a:spcPts val="3639"/>
              </a:lnSpc>
              <a:spcBef>
                <a:spcPct val="0"/>
              </a:spcBef>
            </a:pPr>
            <a:r>
              <a:rPr lang="en-US" sz="2799" u="none">
                <a:solidFill>
                  <a:srgbClr val="FAFAFA"/>
                </a:solidFill>
                <a:latin typeface="Montserrat"/>
                <a:ea typeface="Montserrat"/>
                <a:cs typeface="Montserrat"/>
                <a:sym typeface="Montserrat"/>
              </a:rPr>
              <a:t>Chủ đề 2</a:t>
            </a:r>
          </a:p>
        </p:txBody>
      </p:sp>
      <p:grpSp>
        <p:nvGrpSpPr>
          <p:cNvPr name="Group 15" id="15"/>
          <p:cNvGrpSpPr/>
          <p:nvPr/>
        </p:nvGrpSpPr>
        <p:grpSpPr>
          <a:xfrm rot="0">
            <a:off x="10990406" y="4025553"/>
            <a:ext cx="5872972" cy="1128657"/>
            <a:chOff x="0" y="0"/>
            <a:chExt cx="7830629" cy="1504876"/>
          </a:xfrm>
        </p:grpSpPr>
        <p:sp>
          <p:nvSpPr>
            <p:cNvPr name="AutoShape 16" id="16"/>
            <p:cNvSpPr/>
            <p:nvPr/>
          </p:nvSpPr>
          <p:spPr>
            <a:xfrm rot="0">
              <a:off x="0" y="0"/>
              <a:ext cx="7830629" cy="1504876"/>
            </a:xfrm>
            <a:prstGeom prst="rect">
              <a:avLst/>
            </a:prstGeom>
            <a:solidFill>
              <a:srgbClr val="1E1D1D"/>
            </a:solidFill>
          </p:spPr>
        </p:sp>
        <p:sp>
          <p:nvSpPr>
            <p:cNvPr name="TextBox 17" id="17"/>
            <p:cNvSpPr txBox="true"/>
            <p:nvPr/>
          </p:nvSpPr>
          <p:spPr>
            <a:xfrm rot="0">
              <a:off x="732925" y="234913"/>
              <a:ext cx="6429739" cy="1025525"/>
            </a:xfrm>
            <a:prstGeom prst="rect">
              <a:avLst/>
            </a:prstGeom>
          </p:spPr>
          <p:txBody>
            <a:bodyPr anchor="t" rtlCol="false" tIns="0" lIns="0" bIns="0" rIns="0">
              <a:spAutoFit/>
            </a:bodyPr>
            <a:lstStyle/>
            <a:p>
              <a:pPr algn="ctr" marL="0" indent="0" lvl="0">
                <a:lnSpc>
                  <a:spcPts val="6000"/>
                </a:lnSpc>
              </a:pPr>
              <a:r>
                <a:rPr lang="en-US" b="true" sz="5000" u="none">
                  <a:solidFill>
                    <a:srgbClr val="FAFAFA"/>
                  </a:solidFill>
                  <a:latin typeface="Saira ExtraCondensed Bold"/>
                  <a:ea typeface="Saira ExtraCondensed Bold"/>
                  <a:cs typeface="Saira ExtraCondensed Bold"/>
                  <a:sym typeface="Saira ExtraCondensed Bold"/>
                </a:rPr>
                <a:t>1.000.000</a:t>
              </a:r>
            </a:p>
          </p:txBody>
        </p:sp>
      </p:grpSp>
      <p:sp>
        <p:nvSpPr>
          <p:cNvPr name="TextBox 18" id="18"/>
          <p:cNvSpPr txBox="true"/>
          <p:nvPr/>
        </p:nvSpPr>
        <p:spPr>
          <a:xfrm rot="0">
            <a:off x="11548912" y="8606790"/>
            <a:ext cx="4755959" cy="445770"/>
          </a:xfrm>
          <a:prstGeom prst="rect">
            <a:avLst/>
          </a:prstGeom>
        </p:spPr>
        <p:txBody>
          <a:bodyPr anchor="t" rtlCol="false" tIns="0" lIns="0" bIns="0" rIns="0">
            <a:spAutoFit/>
          </a:bodyPr>
          <a:lstStyle/>
          <a:p>
            <a:pPr algn="ctr" marL="0" indent="0" lvl="0">
              <a:lnSpc>
                <a:spcPts val="3639"/>
              </a:lnSpc>
              <a:spcBef>
                <a:spcPct val="0"/>
              </a:spcBef>
            </a:pPr>
            <a:r>
              <a:rPr lang="en-US" sz="2799" u="none">
                <a:solidFill>
                  <a:srgbClr val="FAFAFA"/>
                </a:solidFill>
                <a:latin typeface="Montserrat"/>
                <a:ea typeface="Montserrat"/>
                <a:cs typeface="Montserrat"/>
                <a:sym typeface="Montserrat"/>
              </a:rPr>
              <a:t>Chủ đề 3</a:t>
            </a:r>
          </a:p>
        </p:txBody>
      </p:sp>
      <p:grpSp>
        <p:nvGrpSpPr>
          <p:cNvPr name="Group 19" id="19"/>
          <p:cNvGrpSpPr/>
          <p:nvPr/>
        </p:nvGrpSpPr>
        <p:grpSpPr>
          <a:xfrm rot="0">
            <a:off x="10990406" y="7022406"/>
            <a:ext cx="5872972" cy="1128657"/>
            <a:chOff x="0" y="0"/>
            <a:chExt cx="7830629" cy="1504876"/>
          </a:xfrm>
        </p:grpSpPr>
        <p:sp>
          <p:nvSpPr>
            <p:cNvPr name="AutoShape 20" id="20"/>
            <p:cNvSpPr/>
            <p:nvPr/>
          </p:nvSpPr>
          <p:spPr>
            <a:xfrm rot="0">
              <a:off x="0" y="0"/>
              <a:ext cx="7830629" cy="1504876"/>
            </a:xfrm>
            <a:prstGeom prst="rect">
              <a:avLst/>
            </a:prstGeom>
            <a:solidFill>
              <a:srgbClr val="1E1D1D"/>
            </a:solidFill>
          </p:spPr>
        </p:sp>
        <p:sp>
          <p:nvSpPr>
            <p:cNvPr name="TextBox 21" id="21"/>
            <p:cNvSpPr txBox="true"/>
            <p:nvPr/>
          </p:nvSpPr>
          <p:spPr>
            <a:xfrm rot="0">
              <a:off x="732925" y="234913"/>
              <a:ext cx="6429739" cy="1025525"/>
            </a:xfrm>
            <a:prstGeom prst="rect">
              <a:avLst/>
            </a:prstGeom>
          </p:spPr>
          <p:txBody>
            <a:bodyPr anchor="t" rtlCol="false" tIns="0" lIns="0" bIns="0" rIns="0">
              <a:spAutoFit/>
            </a:bodyPr>
            <a:lstStyle/>
            <a:p>
              <a:pPr algn="ctr" marL="0" indent="0" lvl="0">
                <a:lnSpc>
                  <a:spcPts val="6000"/>
                </a:lnSpc>
              </a:pPr>
              <a:r>
                <a:rPr lang="en-US" b="true" sz="5000" u="none">
                  <a:solidFill>
                    <a:srgbClr val="FAFAFA"/>
                  </a:solidFill>
                  <a:latin typeface="Saira ExtraCondensed Bold"/>
                  <a:ea typeface="Saira ExtraCondensed Bold"/>
                  <a:cs typeface="Saira ExtraCondensed Bold"/>
                  <a:sym typeface="Saira ExtraCondensed Bold"/>
                </a:rPr>
                <a:t>8,5 tỷ VNĐ</a:t>
              </a:r>
            </a:p>
          </p:txBody>
        </p:sp>
      </p:grpSp>
      <p:sp>
        <p:nvSpPr>
          <p:cNvPr name="AutoShape 22" id="22"/>
          <p:cNvSpPr/>
          <p:nvPr/>
        </p:nvSpPr>
        <p:spPr>
          <a:xfrm rot="0">
            <a:off x="10990406" y="3534901"/>
            <a:ext cx="5872972" cy="0"/>
          </a:xfrm>
          <a:prstGeom prst="line">
            <a:avLst/>
          </a:prstGeom>
          <a:ln cap="flat" w="9525">
            <a:solidFill>
              <a:srgbClr val="FAFAFA"/>
            </a:solidFill>
            <a:prstDash val="solid"/>
            <a:headEnd type="none" len="sm" w="sm"/>
            <a:tailEnd type="none" len="sm" w="sm"/>
          </a:ln>
        </p:spPr>
      </p:sp>
      <p:sp>
        <p:nvSpPr>
          <p:cNvPr name="AutoShape 23" id="23"/>
          <p:cNvSpPr/>
          <p:nvPr/>
        </p:nvSpPr>
        <p:spPr>
          <a:xfrm rot="0">
            <a:off x="10990406" y="6531754"/>
            <a:ext cx="5872972" cy="0"/>
          </a:xfrm>
          <a:prstGeom prst="line">
            <a:avLst/>
          </a:prstGeom>
          <a:ln cap="flat" w="9525">
            <a:solidFill>
              <a:srgbClr val="FAFAFA"/>
            </a:solidFill>
            <a:prstDash val="solid"/>
            <a:headEnd type="none" len="sm" w="sm"/>
            <a:tailEnd type="none" len="sm" w="sm"/>
          </a:ln>
        </p:spPr>
      </p:sp>
      <p:sp>
        <p:nvSpPr>
          <p:cNvPr name="AutoShape 24" id="24"/>
          <p:cNvSpPr/>
          <p:nvPr/>
        </p:nvSpPr>
        <p:spPr>
          <a:xfrm rot="253588">
            <a:off x="-1207534" y="9823004"/>
            <a:ext cx="20289206" cy="3047136"/>
          </a:xfrm>
          <a:prstGeom prst="rect">
            <a:avLst/>
          </a:prstGeom>
          <a:solidFill>
            <a:srgbClr val="1E1D1D"/>
          </a:solid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E1D1D"/>
        </a:solidFill>
      </p:bgPr>
    </p:bg>
    <p:spTree>
      <p:nvGrpSpPr>
        <p:cNvPr id="1" name=""/>
        <p:cNvGrpSpPr/>
        <p:nvPr/>
      </p:nvGrpSpPr>
      <p:grpSpPr>
        <a:xfrm>
          <a:off x="0" y="0"/>
          <a:ext cx="0" cy="0"/>
          <a:chOff x="0" y="0"/>
          <a:chExt cx="0" cy="0"/>
        </a:xfrm>
      </p:grpSpPr>
      <p:sp>
        <p:nvSpPr>
          <p:cNvPr name="AutoShape 2" id="2"/>
          <p:cNvSpPr/>
          <p:nvPr/>
        </p:nvSpPr>
        <p:spPr>
          <a:xfrm rot="0">
            <a:off x="3427216" y="2739731"/>
            <a:ext cx="11433568" cy="0"/>
          </a:xfrm>
          <a:prstGeom prst="line">
            <a:avLst/>
          </a:prstGeom>
          <a:ln cap="rnd" w="28575">
            <a:solidFill>
              <a:srgbClr val="FAFAFA"/>
            </a:solidFill>
            <a:prstDash val="sysDot"/>
            <a:headEnd type="none" len="sm" w="sm"/>
            <a:tailEnd type="none" len="sm" w="sm"/>
          </a:ln>
        </p:spPr>
      </p:sp>
      <p:grpSp>
        <p:nvGrpSpPr>
          <p:cNvPr name="Group 3" id="3"/>
          <p:cNvGrpSpPr/>
          <p:nvPr/>
        </p:nvGrpSpPr>
        <p:grpSpPr>
          <a:xfrm rot="0">
            <a:off x="3322830" y="2649633"/>
            <a:ext cx="208771" cy="208771"/>
            <a:chOff x="0" y="0"/>
            <a:chExt cx="6350000" cy="6350000"/>
          </a:xfrm>
        </p:grpSpPr>
        <p:sp>
          <p:nvSpPr>
            <p:cNvPr name="Freeform 4" id="4"/>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22B23"/>
            </a:solidFill>
          </p:spPr>
        </p:sp>
      </p:grpSp>
      <p:grpSp>
        <p:nvGrpSpPr>
          <p:cNvPr name="Group 5" id="5"/>
          <p:cNvGrpSpPr/>
          <p:nvPr/>
        </p:nvGrpSpPr>
        <p:grpSpPr>
          <a:xfrm rot="0">
            <a:off x="9039614" y="2649633"/>
            <a:ext cx="208771" cy="208771"/>
            <a:chOff x="0" y="0"/>
            <a:chExt cx="6350000" cy="6350000"/>
          </a:xfrm>
        </p:grpSpPr>
        <p:sp>
          <p:nvSpPr>
            <p:cNvPr name="Freeform 6" id="6"/>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22B23"/>
            </a:solidFill>
          </p:spPr>
        </p:sp>
      </p:grpSp>
      <p:grpSp>
        <p:nvGrpSpPr>
          <p:cNvPr name="Group 7" id="7"/>
          <p:cNvGrpSpPr/>
          <p:nvPr/>
        </p:nvGrpSpPr>
        <p:grpSpPr>
          <a:xfrm rot="0">
            <a:off x="14756398" y="2649633"/>
            <a:ext cx="208771" cy="208771"/>
            <a:chOff x="0" y="0"/>
            <a:chExt cx="6350000" cy="6350000"/>
          </a:xfrm>
        </p:grpSpPr>
        <p:sp>
          <p:nvSpPr>
            <p:cNvPr name="Freeform 8" id="8"/>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C22B23"/>
            </a:solidFill>
          </p:spPr>
        </p:sp>
      </p:grpSp>
      <p:grpSp>
        <p:nvGrpSpPr>
          <p:cNvPr name="Group 9" id="9"/>
          <p:cNvGrpSpPr>
            <a:grpSpLocks noChangeAspect="true"/>
          </p:cNvGrpSpPr>
          <p:nvPr/>
        </p:nvGrpSpPr>
        <p:grpSpPr>
          <a:xfrm rot="0">
            <a:off x="0" y="6031278"/>
            <a:ext cx="18288000" cy="5143500"/>
            <a:chOff x="0" y="0"/>
            <a:chExt cx="5960393" cy="1676361"/>
          </a:xfrm>
        </p:grpSpPr>
        <p:sp>
          <p:nvSpPr>
            <p:cNvPr name="Freeform 10" id="10"/>
            <p:cNvSpPr/>
            <p:nvPr/>
          </p:nvSpPr>
          <p:spPr>
            <a:xfrm flipH="false" flipV="false" rot="0">
              <a:off x="0" y="0"/>
              <a:ext cx="5960393" cy="1676361"/>
            </a:xfrm>
            <a:custGeom>
              <a:avLst/>
              <a:gdLst/>
              <a:ahLst/>
              <a:cxnLst/>
              <a:rect r="r" b="b" t="t" l="l"/>
              <a:pathLst>
                <a:path h="1676361" w="5960393">
                  <a:moveTo>
                    <a:pt x="5960393" y="1050362"/>
                  </a:moveTo>
                  <a:cubicBezTo>
                    <a:pt x="5960393" y="1259028"/>
                    <a:pt x="5960393" y="1467695"/>
                    <a:pt x="5960393" y="1676361"/>
                  </a:cubicBezTo>
                  <a:cubicBezTo>
                    <a:pt x="3973595" y="1676361"/>
                    <a:pt x="1986798" y="1676361"/>
                    <a:pt x="0" y="1676361"/>
                  </a:cubicBezTo>
                  <a:cubicBezTo>
                    <a:pt x="0" y="1467695"/>
                    <a:pt x="0" y="1259028"/>
                    <a:pt x="0" y="1050362"/>
                  </a:cubicBezTo>
                  <a:lnTo>
                    <a:pt x="2980197" y="0"/>
                  </a:lnTo>
                  <a:cubicBezTo>
                    <a:pt x="3973595" y="350121"/>
                    <a:pt x="4966994" y="700242"/>
                    <a:pt x="5960393" y="1050362"/>
                  </a:cubicBezTo>
                  <a:close/>
                </a:path>
              </a:pathLst>
            </a:custGeom>
            <a:solidFill>
              <a:srgbClr val="1E1D1D"/>
            </a:solidFill>
          </p:spPr>
        </p:sp>
        <p:sp>
          <p:nvSpPr>
            <p:cNvPr name="Freeform 11" id="11"/>
            <p:cNvSpPr/>
            <p:nvPr/>
          </p:nvSpPr>
          <p:spPr>
            <a:xfrm flipH="false" flipV="false" rot="0">
              <a:off x="0" y="0"/>
              <a:ext cx="5960393" cy="1676361"/>
            </a:xfrm>
            <a:custGeom>
              <a:avLst/>
              <a:gdLst/>
              <a:ahLst/>
              <a:cxnLst/>
              <a:rect r="r" b="b" t="t" l="l"/>
              <a:pathLst>
                <a:path h="1676361" w="5960393">
                  <a:moveTo>
                    <a:pt x="5960393" y="1050362"/>
                  </a:moveTo>
                  <a:cubicBezTo>
                    <a:pt x="5960393" y="1259028"/>
                    <a:pt x="5960393" y="1467695"/>
                    <a:pt x="5960393" y="1676361"/>
                  </a:cubicBezTo>
                  <a:cubicBezTo>
                    <a:pt x="3973595" y="1676361"/>
                    <a:pt x="1986798" y="1676361"/>
                    <a:pt x="0" y="1676361"/>
                  </a:cubicBezTo>
                  <a:cubicBezTo>
                    <a:pt x="0" y="1467695"/>
                    <a:pt x="0" y="1259028"/>
                    <a:pt x="0" y="1050362"/>
                  </a:cubicBezTo>
                  <a:lnTo>
                    <a:pt x="2980197" y="0"/>
                  </a:lnTo>
                  <a:cubicBezTo>
                    <a:pt x="3973595" y="350121"/>
                    <a:pt x="4966994" y="700242"/>
                    <a:pt x="5960393" y="1050362"/>
                  </a:cubicBezTo>
                  <a:close/>
                </a:path>
              </a:pathLst>
            </a:custGeom>
            <a:blipFill>
              <a:blip r:embed="rId2"/>
              <a:stretch>
                <a:fillRect l="0" t="-66777" r="0" b="-66777"/>
              </a:stretch>
            </a:blipFill>
          </p:spPr>
        </p:sp>
      </p:grpSp>
      <p:sp>
        <p:nvSpPr>
          <p:cNvPr name="TextBox 12" id="12"/>
          <p:cNvSpPr txBox="true"/>
          <p:nvPr/>
        </p:nvSpPr>
        <p:spPr>
          <a:xfrm rot="0">
            <a:off x="2163534" y="1019175"/>
            <a:ext cx="13960932" cy="771525"/>
          </a:xfrm>
          <a:prstGeom prst="rect">
            <a:avLst/>
          </a:prstGeom>
        </p:spPr>
        <p:txBody>
          <a:bodyPr anchor="t" rtlCol="false" tIns="0" lIns="0" bIns="0" rIns="0">
            <a:spAutoFit/>
          </a:bodyPr>
          <a:lstStyle/>
          <a:p>
            <a:pPr algn="ctr" marL="0" indent="0" lvl="0">
              <a:lnSpc>
                <a:spcPts val="6000"/>
              </a:lnSpc>
            </a:pPr>
            <a:r>
              <a:rPr lang="en-US" b="true" sz="5000" u="none">
                <a:solidFill>
                  <a:srgbClr val="FAFAFA"/>
                </a:solidFill>
                <a:latin typeface="Saira ExtraCondensed Bold"/>
                <a:ea typeface="Saira ExtraCondensed Bold"/>
                <a:cs typeface="Saira ExtraCondensed Bold"/>
                <a:sym typeface="Saira ExtraCondensed Bold"/>
              </a:rPr>
              <a:t>Trạng thái hiện tại, Thành tựu và Cách sử dụng Vốn</a:t>
            </a:r>
          </a:p>
        </p:txBody>
      </p:sp>
      <p:sp>
        <p:nvSpPr>
          <p:cNvPr name="TextBox 13" id="13"/>
          <p:cNvSpPr txBox="true"/>
          <p:nvPr/>
        </p:nvSpPr>
        <p:spPr>
          <a:xfrm rot="0">
            <a:off x="1368976" y="3571272"/>
            <a:ext cx="4116480" cy="1370330"/>
          </a:xfrm>
          <a:prstGeom prst="rect">
            <a:avLst/>
          </a:prstGeom>
        </p:spPr>
        <p:txBody>
          <a:bodyPr anchor="t" rtlCol="false" tIns="0" lIns="0" bIns="0" rIns="0">
            <a:spAutoFit/>
          </a:bodyPr>
          <a:lstStyle/>
          <a:p>
            <a:pPr algn="ctr" marL="0" indent="0" lvl="0">
              <a:lnSpc>
                <a:spcPts val="3639"/>
              </a:lnSpc>
              <a:spcBef>
                <a:spcPct val="0"/>
              </a:spcBef>
            </a:pPr>
            <a:r>
              <a:rPr lang="en-US" sz="2799" u="none">
                <a:solidFill>
                  <a:srgbClr val="FAFAFA"/>
                </a:solidFill>
                <a:latin typeface="Montserrat"/>
                <a:ea typeface="Montserrat"/>
                <a:cs typeface="Montserrat"/>
                <a:sym typeface="Montserrat"/>
              </a:rPr>
              <a:t>Hãy trình bày ngắn gọn về những gì bạn muốn thảo luận.</a:t>
            </a:r>
          </a:p>
        </p:txBody>
      </p:sp>
      <p:sp>
        <p:nvSpPr>
          <p:cNvPr name="TextBox 14" id="14"/>
          <p:cNvSpPr txBox="true"/>
          <p:nvPr/>
        </p:nvSpPr>
        <p:spPr>
          <a:xfrm rot="0">
            <a:off x="12802544" y="3571272"/>
            <a:ext cx="4116480" cy="1370330"/>
          </a:xfrm>
          <a:prstGeom prst="rect">
            <a:avLst/>
          </a:prstGeom>
        </p:spPr>
        <p:txBody>
          <a:bodyPr anchor="t" rtlCol="false" tIns="0" lIns="0" bIns="0" rIns="0">
            <a:spAutoFit/>
          </a:bodyPr>
          <a:lstStyle/>
          <a:p>
            <a:pPr algn="ctr" marL="0" indent="0" lvl="0">
              <a:lnSpc>
                <a:spcPts val="3639"/>
              </a:lnSpc>
              <a:spcBef>
                <a:spcPct val="0"/>
              </a:spcBef>
            </a:pPr>
            <a:r>
              <a:rPr lang="en-US" sz="2799" u="none">
                <a:solidFill>
                  <a:srgbClr val="FAFAFA"/>
                </a:solidFill>
                <a:latin typeface="Montserrat"/>
                <a:ea typeface="Montserrat"/>
                <a:cs typeface="Montserrat"/>
                <a:sym typeface="Montserrat"/>
              </a:rPr>
              <a:t>Hãy trình bày ngắn gọn về những gì bạn muốn thảo luận.</a:t>
            </a:r>
          </a:p>
        </p:txBody>
      </p:sp>
      <p:sp>
        <p:nvSpPr>
          <p:cNvPr name="TextBox 15" id="15"/>
          <p:cNvSpPr txBox="true"/>
          <p:nvPr/>
        </p:nvSpPr>
        <p:spPr>
          <a:xfrm rot="0">
            <a:off x="6908701" y="3571272"/>
            <a:ext cx="4470598" cy="1370330"/>
          </a:xfrm>
          <a:prstGeom prst="rect">
            <a:avLst/>
          </a:prstGeom>
        </p:spPr>
        <p:txBody>
          <a:bodyPr anchor="t" rtlCol="false" tIns="0" lIns="0" bIns="0" rIns="0">
            <a:spAutoFit/>
          </a:bodyPr>
          <a:lstStyle/>
          <a:p>
            <a:pPr algn="ctr" marL="0" indent="0" lvl="0">
              <a:lnSpc>
                <a:spcPts val="3639"/>
              </a:lnSpc>
              <a:spcBef>
                <a:spcPct val="0"/>
              </a:spcBef>
            </a:pPr>
            <a:r>
              <a:rPr lang="en-US" sz="2799" u="none">
                <a:solidFill>
                  <a:srgbClr val="FAFAFA"/>
                </a:solidFill>
                <a:latin typeface="Montserrat"/>
                <a:ea typeface="Montserrat"/>
                <a:cs typeface="Montserrat"/>
                <a:sym typeface="Montserrat"/>
              </a:rPr>
              <a:t>Hãy trình bày ngắn gọn về những gì bạn muốn thảo luận.</a:t>
            </a:r>
          </a:p>
        </p:txBody>
      </p:sp>
      <p:grpSp>
        <p:nvGrpSpPr>
          <p:cNvPr name="Group 16" id="16"/>
          <p:cNvGrpSpPr/>
          <p:nvPr/>
        </p:nvGrpSpPr>
        <p:grpSpPr>
          <a:xfrm rot="0">
            <a:off x="10506869" y="7320199"/>
            <a:ext cx="6752431" cy="1746838"/>
            <a:chOff x="0" y="0"/>
            <a:chExt cx="9003241" cy="2329118"/>
          </a:xfrm>
        </p:grpSpPr>
        <p:grpSp>
          <p:nvGrpSpPr>
            <p:cNvPr name="Group 17" id="17"/>
            <p:cNvGrpSpPr/>
            <p:nvPr/>
          </p:nvGrpSpPr>
          <p:grpSpPr>
            <a:xfrm rot="0">
              <a:off x="0" y="0"/>
              <a:ext cx="9003241" cy="2329118"/>
              <a:chOff x="0" y="0"/>
              <a:chExt cx="4404919" cy="1144124"/>
            </a:xfrm>
          </p:grpSpPr>
          <p:sp>
            <p:nvSpPr>
              <p:cNvPr name="Freeform 18" id="18"/>
              <p:cNvSpPr/>
              <p:nvPr/>
            </p:nvSpPr>
            <p:spPr>
              <a:xfrm flipH="false" flipV="false" rot="0">
                <a:off x="0" y="0"/>
                <a:ext cx="4404919" cy="1144124"/>
              </a:xfrm>
              <a:custGeom>
                <a:avLst/>
                <a:gdLst/>
                <a:ahLst/>
                <a:cxnLst/>
                <a:rect r="r" b="b" t="t" l="l"/>
                <a:pathLst>
                  <a:path h="1144124" w="4404919">
                    <a:moveTo>
                      <a:pt x="4280459" y="1144124"/>
                    </a:moveTo>
                    <a:lnTo>
                      <a:pt x="124460" y="1144124"/>
                    </a:lnTo>
                    <a:cubicBezTo>
                      <a:pt x="55880" y="1144124"/>
                      <a:pt x="0" y="1088244"/>
                      <a:pt x="0" y="1019664"/>
                    </a:cubicBezTo>
                    <a:lnTo>
                      <a:pt x="0" y="124460"/>
                    </a:lnTo>
                    <a:cubicBezTo>
                      <a:pt x="0" y="55880"/>
                      <a:pt x="55880" y="0"/>
                      <a:pt x="124460" y="0"/>
                    </a:cubicBezTo>
                    <a:lnTo>
                      <a:pt x="4280459" y="0"/>
                    </a:lnTo>
                    <a:cubicBezTo>
                      <a:pt x="4349039" y="0"/>
                      <a:pt x="4404919" y="55880"/>
                      <a:pt x="4404919" y="124460"/>
                    </a:cubicBezTo>
                    <a:lnTo>
                      <a:pt x="4404919" y="1019664"/>
                    </a:lnTo>
                    <a:cubicBezTo>
                      <a:pt x="4404919" y="1088244"/>
                      <a:pt x="4349039" y="1144124"/>
                      <a:pt x="4280459" y="1144124"/>
                    </a:cubicBezTo>
                    <a:close/>
                  </a:path>
                </a:pathLst>
              </a:custGeom>
              <a:solidFill>
                <a:srgbClr val="FAFAFA"/>
              </a:solidFill>
            </p:spPr>
          </p:sp>
        </p:grpSp>
        <p:sp>
          <p:nvSpPr>
            <p:cNvPr name="TextBox 19" id="19"/>
            <p:cNvSpPr txBox="true"/>
            <p:nvPr/>
          </p:nvSpPr>
          <p:spPr>
            <a:xfrm rot="0">
              <a:off x="1770690" y="1555492"/>
              <a:ext cx="6533735" cy="332105"/>
            </a:xfrm>
            <a:prstGeom prst="rect">
              <a:avLst/>
            </a:prstGeom>
          </p:spPr>
          <p:txBody>
            <a:bodyPr anchor="t" rtlCol="false" tIns="0" lIns="0" bIns="0" rIns="0">
              <a:spAutoFit/>
            </a:bodyPr>
            <a:lstStyle/>
            <a:p>
              <a:pPr algn="l">
                <a:lnSpc>
                  <a:spcPts val="2100"/>
                </a:lnSpc>
                <a:spcBef>
                  <a:spcPct val="0"/>
                </a:spcBef>
              </a:pPr>
              <a:r>
                <a:rPr lang="en-US" sz="1400" i="true">
                  <a:solidFill>
                    <a:srgbClr val="C22B23"/>
                  </a:solidFill>
                  <a:latin typeface="Montserrat Italics"/>
                  <a:ea typeface="Montserrat Italics"/>
                  <a:cs typeface="Montserrat Italics"/>
                  <a:sym typeface="Montserrat Italics"/>
                </a:rPr>
                <a:t>Vui lòng xóa ghi chú sau khi chỉnh sửa trang này.</a:t>
              </a:r>
            </a:p>
          </p:txBody>
        </p:sp>
        <p:sp>
          <p:nvSpPr>
            <p:cNvPr name="TextBox 20" id="20"/>
            <p:cNvSpPr txBox="true"/>
            <p:nvPr/>
          </p:nvSpPr>
          <p:spPr>
            <a:xfrm rot="0">
              <a:off x="1770690" y="393896"/>
              <a:ext cx="6543198" cy="1043305"/>
            </a:xfrm>
            <a:prstGeom prst="rect">
              <a:avLst/>
            </a:prstGeom>
          </p:spPr>
          <p:txBody>
            <a:bodyPr anchor="t" rtlCol="false" tIns="0" lIns="0" bIns="0" rIns="0">
              <a:spAutoFit/>
            </a:bodyPr>
            <a:lstStyle/>
            <a:p>
              <a:pPr algn="l">
                <a:lnSpc>
                  <a:spcPts val="2100"/>
                </a:lnSpc>
                <a:spcBef>
                  <a:spcPct val="0"/>
                </a:spcBef>
              </a:pPr>
              <a:r>
                <a:rPr lang="en-US" sz="1400">
                  <a:solidFill>
                    <a:srgbClr val="1E1D1D"/>
                  </a:solidFill>
                  <a:latin typeface="Montserrat"/>
                  <a:ea typeface="Montserrat"/>
                  <a:cs typeface="Montserrat"/>
                  <a:sym typeface="Montserrat"/>
                  <a:hlinkClick r:id="rId3" tooltip="https://docs.google.com/spreadsheets/d/1DUF2isFWsqVSYhbaACYtbgcLi_YjDqpE3GLQIVgkKQg/edit#gid=69851113"/>
                </a:rPr>
                <a:t>Giải thích trạng thái hiện tại của sản phẩm, giao diện của phiên bản tiếp theo và cách bạn sẽ sử dụng số tiền mà bạn đang cố gắng huy động.</a:t>
              </a:r>
            </a:p>
          </p:txBody>
        </p:sp>
        <p:sp>
          <p:nvSpPr>
            <p:cNvPr name="Freeform 21" id="21"/>
            <p:cNvSpPr/>
            <p:nvPr/>
          </p:nvSpPr>
          <p:spPr>
            <a:xfrm flipH="false" flipV="false" rot="0">
              <a:off x="473449" y="764872"/>
              <a:ext cx="747914" cy="799374"/>
            </a:xfrm>
            <a:custGeom>
              <a:avLst/>
              <a:gdLst/>
              <a:ahLst/>
              <a:cxnLst/>
              <a:rect r="r" b="b" t="t" l="l"/>
              <a:pathLst>
                <a:path h="799374" w="747914">
                  <a:moveTo>
                    <a:pt x="0" y="0"/>
                  </a:moveTo>
                  <a:lnTo>
                    <a:pt x="747915" y="0"/>
                  </a:lnTo>
                  <a:lnTo>
                    <a:pt x="747915" y="799374"/>
                  </a:lnTo>
                  <a:lnTo>
                    <a:pt x="0" y="799374"/>
                  </a:lnTo>
                  <a:lnTo>
                    <a:pt x="0" y="0"/>
                  </a:lnTo>
                  <a:close/>
                </a:path>
              </a:pathLst>
            </a:custGeom>
            <a:blipFill>
              <a:blip r:embed="rId4"/>
              <a:stretch>
                <a:fillRect l="0" t="0" r="0" b="0"/>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C22B23"/>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2633003" y="2245793"/>
            <a:ext cx="5672698" cy="3863609"/>
            <a:chOff x="0" y="0"/>
            <a:chExt cx="5475623" cy="3729384"/>
          </a:xfrm>
        </p:grpSpPr>
        <p:sp>
          <p:nvSpPr>
            <p:cNvPr name="Freeform 3" id="3"/>
            <p:cNvSpPr/>
            <p:nvPr/>
          </p:nvSpPr>
          <p:spPr>
            <a:xfrm flipH="false" flipV="false" rot="0">
              <a:off x="0" y="0"/>
              <a:ext cx="5475623" cy="3729384"/>
            </a:xfrm>
            <a:custGeom>
              <a:avLst/>
              <a:gdLst/>
              <a:ahLst/>
              <a:cxnLst/>
              <a:rect r="r" b="b" t="t" l="l"/>
              <a:pathLst>
                <a:path h="3729384" w="5475623">
                  <a:moveTo>
                    <a:pt x="3322462" y="3729384"/>
                  </a:moveTo>
                  <a:lnTo>
                    <a:pt x="0" y="3729384"/>
                  </a:lnTo>
                  <a:lnTo>
                    <a:pt x="2153161" y="0"/>
                  </a:lnTo>
                  <a:lnTo>
                    <a:pt x="5475623" y="0"/>
                  </a:lnTo>
                  <a:lnTo>
                    <a:pt x="3322462" y="3729384"/>
                  </a:lnTo>
                  <a:close/>
                </a:path>
              </a:pathLst>
            </a:custGeom>
            <a:solidFill>
              <a:srgbClr val="C22B23"/>
            </a:solidFill>
          </p:spPr>
        </p:sp>
        <p:sp>
          <p:nvSpPr>
            <p:cNvPr name="Freeform 4" id="4"/>
            <p:cNvSpPr/>
            <p:nvPr/>
          </p:nvSpPr>
          <p:spPr>
            <a:xfrm flipH="false" flipV="false" rot="0">
              <a:off x="0" y="0"/>
              <a:ext cx="5475623" cy="3729384"/>
            </a:xfrm>
            <a:custGeom>
              <a:avLst/>
              <a:gdLst/>
              <a:ahLst/>
              <a:cxnLst/>
              <a:rect r="r" b="b" t="t" l="l"/>
              <a:pathLst>
                <a:path h="3729384" w="5475623">
                  <a:moveTo>
                    <a:pt x="3322462" y="3729384"/>
                  </a:moveTo>
                  <a:lnTo>
                    <a:pt x="0" y="3729384"/>
                  </a:lnTo>
                  <a:lnTo>
                    <a:pt x="2153161" y="0"/>
                  </a:lnTo>
                  <a:lnTo>
                    <a:pt x="5475623" y="0"/>
                  </a:lnTo>
                  <a:lnTo>
                    <a:pt x="3322462" y="3729384"/>
                  </a:lnTo>
                  <a:close/>
                </a:path>
              </a:pathLst>
            </a:custGeom>
            <a:blipFill>
              <a:blip r:embed="rId2"/>
              <a:stretch>
                <a:fillRect l="-1081" t="0" r="-1081" b="0"/>
              </a:stretch>
            </a:blipFill>
          </p:spPr>
        </p:sp>
      </p:grpSp>
      <p:grpSp>
        <p:nvGrpSpPr>
          <p:cNvPr name="Group 5" id="5"/>
          <p:cNvGrpSpPr>
            <a:grpSpLocks noChangeAspect="true"/>
          </p:cNvGrpSpPr>
          <p:nvPr/>
        </p:nvGrpSpPr>
        <p:grpSpPr>
          <a:xfrm rot="0">
            <a:off x="6307651" y="3211695"/>
            <a:ext cx="5672698" cy="3863609"/>
            <a:chOff x="0" y="0"/>
            <a:chExt cx="5475623" cy="3729384"/>
          </a:xfrm>
        </p:grpSpPr>
        <p:sp>
          <p:nvSpPr>
            <p:cNvPr name="Freeform 6" id="6"/>
            <p:cNvSpPr/>
            <p:nvPr/>
          </p:nvSpPr>
          <p:spPr>
            <a:xfrm flipH="false" flipV="false" rot="0">
              <a:off x="0" y="0"/>
              <a:ext cx="5475623" cy="3729384"/>
            </a:xfrm>
            <a:custGeom>
              <a:avLst/>
              <a:gdLst/>
              <a:ahLst/>
              <a:cxnLst/>
              <a:rect r="r" b="b" t="t" l="l"/>
              <a:pathLst>
                <a:path h="3729384" w="5475623">
                  <a:moveTo>
                    <a:pt x="3322462" y="3729384"/>
                  </a:moveTo>
                  <a:lnTo>
                    <a:pt x="0" y="3729384"/>
                  </a:lnTo>
                  <a:lnTo>
                    <a:pt x="2153161" y="0"/>
                  </a:lnTo>
                  <a:lnTo>
                    <a:pt x="5475623" y="0"/>
                  </a:lnTo>
                  <a:lnTo>
                    <a:pt x="3322462" y="3729384"/>
                  </a:lnTo>
                  <a:close/>
                </a:path>
              </a:pathLst>
            </a:custGeom>
            <a:solidFill>
              <a:srgbClr val="1E1D1D"/>
            </a:solidFill>
          </p:spPr>
        </p:sp>
        <p:sp>
          <p:nvSpPr>
            <p:cNvPr name="Freeform 7" id="7"/>
            <p:cNvSpPr/>
            <p:nvPr/>
          </p:nvSpPr>
          <p:spPr>
            <a:xfrm flipH="false" flipV="false" rot="0">
              <a:off x="0" y="0"/>
              <a:ext cx="5475623" cy="3729384"/>
            </a:xfrm>
            <a:custGeom>
              <a:avLst/>
              <a:gdLst/>
              <a:ahLst/>
              <a:cxnLst/>
              <a:rect r="r" b="b" t="t" l="l"/>
              <a:pathLst>
                <a:path h="3729384" w="5475623">
                  <a:moveTo>
                    <a:pt x="3322462" y="3729384"/>
                  </a:moveTo>
                  <a:lnTo>
                    <a:pt x="0" y="3729384"/>
                  </a:lnTo>
                  <a:lnTo>
                    <a:pt x="2153161" y="0"/>
                  </a:lnTo>
                  <a:lnTo>
                    <a:pt x="5475623" y="0"/>
                  </a:lnTo>
                  <a:lnTo>
                    <a:pt x="3322462" y="3729384"/>
                  </a:lnTo>
                  <a:close/>
                </a:path>
              </a:pathLst>
            </a:custGeom>
            <a:blipFill>
              <a:blip r:embed="rId3"/>
              <a:stretch>
                <a:fillRect l="0" t="-12044" r="0" b="-108191"/>
              </a:stretch>
            </a:blipFill>
          </p:spPr>
        </p:sp>
      </p:grpSp>
      <p:grpSp>
        <p:nvGrpSpPr>
          <p:cNvPr name="Group 8" id="8"/>
          <p:cNvGrpSpPr>
            <a:grpSpLocks noChangeAspect="true"/>
          </p:cNvGrpSpPr>
          <p:nvPr/>
        </p:nvGrpSpPr>
        <p:grpSpPr>
          <a:xfrm rot="0">
            <a:off x="9982300" y="4177598"/>
            <a:ext cx="5672698" cy="3863609"/>
            <a:chOff x="0" y="0"/>
            <a:chExt cx="5475623" cy="3729384"/>
          </a:xfrm>
        </p:grpSpPr>
        <p:sp>
          <p:nvSpPr>
            <p:cNvPr name="Freeform 9" id="9"/>
            <p:cNvSpPr/>
            <p:nvPr/>
          </p:nvSpPr>
          <p:spPr>
            <a:xfrm flipH="false" flipV="false" rot="0">
              <a:off x="0" y="0"/>
              <a:ext cx="5475623" cy="3729384"/>
            </a:xfrm>
            <a:custGeom>
              <a:avLst/>
              <a:gdLst/>
              <a:ahLst/>
              <a:cxnLst/>
              <a:rect r="r" b="b" t="t" l="l"/>
              <a:pathLst>
                <a:path h="3729384" w="5475623">
                  <a:moveTo>
                    <a:pt x="3322462" y="3729384"/>
                  </a:moveTo>
                  <a:lnTo>
                    <a:pt x="0" y="3729384"/>
                  </a:lnTo>
                  <a:lnTo>
                    <a:pt x="2153161" y="0"/>
                  </a:lnTo>
                  <a:lnTo>
                    <a:pt x="5475623" y="0"/>
                  </a:lnTo>
                  <a:lnTo>
                    <a:pt x="3322462" y="3729384"/>
                  </a:lnTo>
                  <a:close/>
                </a:path>
              </a:pathLst>
            </a:custGeom>
            <a:solidFill>
              <a:srgbClr val="1E1D1D"/>
            </a:solidFill>
          </p:spPr>
        </p:sp>
        <p:sp>
          <p:nvSpPr>
            <p:cNvPr name="Freeform 10" id="10"/>
            <p:cNvSpPr/>
            <p:nvPr/>
          </p:nvSpPr>
          <p:spPr>
            <a:xfrm flipH="false" flipV="false" rot="0">
              <a:off x="0" y="0"/>
              <a:ext cx="5475623" cy="3729384"/>
            </a:xfrm>
            <a:custGeom>
              <a:avLst/>
              <a:gdLst/>
              <a:ahLst/>
              <a:cxnLst/>
              <a:rect r="r" b="b" t="t" l="l"/>
              <a:pathLst>
                <a:path h="3729384" w="5475623">
                  <a:moveTo>
                    <a:pt x="3322462" y="3729384"/>
                  </a:moveTo>
                  <a:lnTo>
                    <a:pt x="0" y="3729384"/>
                  </a:lnTo>
                  <a:lnTo>
                    <a:pt x="2153161" y="0"/>
                  </a:lnTo>
                  <a:lnTo>
                    <a:pt x="5475623" y="0"/>
                  </a:lnTo>
                  <a:lnTo>
                    <a:pt x="3322462" y="3729384"/>
                  </a:lnTo>
                  <a:close/>
                </a:path>
              </a:pathLst>
            </a:custGeom>
            <a:blipFill>
              <a:blip r:embed="rId4"/>
              <a:stretch>
                <a:fillRect l="-1081" t="0" r="-1081" b="0"/>
              </a:stretch>
            </a:blipFill>
          </p:spPr>
        </p:sp>
      </p:grpSp>
      <p:grpSp>
        <p:nvGrpSpPr>
          <p:cNvPr name="Group 11" id="11"/>
          <p:cNvGrpSpPr/>
          <p:nvPr/>
        </p:nvGrpSpPr>
        <p:grpSpPr>
          <a:xfrm rot="5400000">
            <a:off x="-1016495" y="1016495"/>
            <a:ext cx="4665992" cy="2633003"/>
            <a:chOff x="0" y="0"/>
            <a:chExt cx="6350000" cy="3583282"/>
          </a:xfrm>
        </p:grpSpPr>
        <p:sp>
          <p:nvSpPr>
            <p:cNvPr name="Freeform 12" id="12"/>
            <p:cNvSpPr/>
            <p:nvPr/>
          </p:nvSpPr>
          <p:spPr>
            <a:xfrm flipH="false" flipV="false" rot="0">
              <a:off x="0" y="0"/>
              <a:ext cx="6350000" cy="3583282"/>
            </a:xfrm>
            <a:custGeom>
              <a:avLst/>
              <a:gdLst/>
              <a:ahLst/>
              <a:cxnLst/>
              <a:rect r="r" b="b" t="t" l="l"/>
              <a:pathLst>
                <a:path h="3583282" w="6350000">
                  <a:moveTo>
                    <a:pt x="6350000" y="3583282"/>
                  </a:moveTo>
                  <a:lnTo>
                    <a:pt x="0" y="3583282"/>
                  </a:lnTo>
                  <a:lnTo>
                    <a:pt x="0" y="0"/>
                  </a:lnTo>
                  <a:lnTo>
                    <a:pt x="6350000" y="3583282"/>
                  </a:lnTo>
                  <a:close/>
                </a:path>
              </a:pathLst>
            </a:custGeom>
            <a:solidFill>
              <a:srgbClr val="1E1D1D"/>
            </a:solidFill>
          </p:spPr>
        </p:sp>
      </p:grpSp>
      <p:sp>
        <p:nvSpPr>
          <p:cNvPr name="TextBox 13" id="13"/>
          <p:cNvSpPr txBox="true"/>
          <p:nvPr/>
        </p:nvSpPr>
        <p:spPr>
          <a:xfrm rot="0">
            <a:off x="1028700" y="7699375"/>
            <a:ext cx="6563551" cy="1533525"/>
          </a:xfrm>
          <a:prstGeom prst="rect">
            <a:avLst/>
          </a:prstGeom>
        </p:spPr>
        <p:txBody>
          <a:bodyPr anchor="t" rtlCol="false" tIns="0" lIns="0" bIns="0" rIns="0">
            <a:spAutoFit/>
          </a:bodyPr>
          <a:lstStyle/>
          <a:p>
            <a:pPr algn="l" marL="0" indent="0" lvl="0">
              <a:lnSpc>
                <a:spcPts val="6000"/>
              </a:lnSpc>
            </a:pPr>
            <a:r>
              <a:rPr lang="en-US" b="true" sz="5000" u="none">
                <a:solidFill>
                  <a:srgbClr val="FAFAFA"/>
                </a:solidFill>
                <a:latin typeface="Saira ExtraCondensed Bold"/>
                <a:ea typeface="Saira ExtraCondensed Bold"/>
                <a:cs typeface="Saira ExtraCondensed Bold"/>
                <a:sym typeface="Saira ExtraCondensed Bold"/>
              </a:rPr>
              <a:t>Hãy trình bày ngắn gọn về</a:t>
            </a:r>
          </a:p>
          <a:p>
            <a:pPr algn="l" marL="0" indent="0" lvl="0">
              <a:lnSpc>
                <a:spcPts val="6000"/>
              </a:lnSpc>
            </a:pPr>
            <a:r>
              <a:rPr lang="en-US" b="true" sz="5000" u="none">
                <a:solidFill>
                  <a:srgbClr val="FAFAFA"/>
                </a:solidFill>
                <a:latin typeface="Saira ExtraCondensed Bold"/>
                <a:ea typeface="Saira ExtraCondensed Bold"/>
                <a:cs typeface="Saira ExtraCondensed Bold"/>
                <a:sym typeface="Saira ExtraCondensed Bold"/>
              </a:rPr>
              <a:t>những gì bạn muốn thảo luận.</a:t>
            </a:r>
          </a:p>
        </p:txBody>
      </p:sp>
      <p:sp>
        <p:nvSpPr>
          <p:cNvPr name="TextBox 14" id="14"/>
          <p:cNvSpPr txBox="true"/>
          <p:nvPr/>
        </p:nvSpPr>
        <p:spPr>
          <a:xfrm rot="0">
            <a:off x="10577612" y="1044575"/>
            <a:ext cx="6563551" cy="1533525"/>
          </a:xfrm>
          <a:prstGeom prst="rect">
            <a:avLst/>
          </a:prstGeom>
        </p:spPr>
        <p:txBody>
          <a:bodyPr anchor="t" rtlCol="false" tIns="0" lIns="0" bIns="0" rIns="0">
            <a:spAutoFit/>
          </a:bodyPr>
          <a:lstStyle/>
          <a:p>
            <a:pPr algn="r" marL="0" indent="0" lvl="0">
              <a:lnSpc>
                <a:spcPts val="6000"/>
              </a:lnSpc>
            </a:pPr>
            <a:r>
              <a:rPr lang="en-US" b="true" sz="5000" u="none">
                <a:solidFill>
                  <a:srgbClr val="FAFAFA"/>
                </a:solidFill>
                <a:latin typeface="Saira ExtraCondensed Bold"/>
                <a:ea typeface="Saira ExtraCondensed Bold"/>
                <a:cs typeface="Saira ExtraCondensed Bold"/>
                <a:sym typeface="Saira ExtraCondensed Bold"/>
              </a:rPr>
              <a:t>Hãy trình bày ngắn gọn về</a:t>
            </a:r>
          </a:p>
          <a:p>
            <a:pPr algn="r" marL="0" indent="0" lvl="0">
              <a:lnSpc>
                <a:spcPts val="6000"/>
              </a:lnSpc>
            </a:pPr>
            <a:r>
              <a:rPr lang="en-US" b="true" sz="5000" u="none">
                <a:solidFill>
                  <a:srgbClr val="FAFAFA"/>
                </a:solidFill>
                <a:latin typeface="Saira ExtraCondensed Bold"/>
                <a:ea typeface="Saira ExtraCondensed Bold"/>
                <a:cs typeface="Saira ExtraCondensed Bold"/>
                <a:sym typeface="Saira ExtraCondensed Bold"/>
              </a:rPr>
              <a:t>những gì bạn muốn thảo luận.</a:t>
            </a:r>
          </a:p>
        </p:txBody>
      </p:sp>
      <p:grpSp>
        <p:nvGrpSpPr>
          <p:cNvPr name="Group 15" id="15"/>
          <p:cNvGrpSpPr/>
          <p:nvPr/>
        </p:nvGrpSpPr>
        <p:grpSpPr>
          <a:xfrm rot="-5400000">
            <a:off x="14638503" y="6637503"/>
            <a:ext cx="4665992" cy="2633003"/>
            <a:chOff x="0" y="0"/>
            <a:chExt cx="6350000" cy="3583282"/>
          </a:xfrm>
        </p:grpSpPr>
        <p:sp>
          <p:nvSpPr>
            <p:cNvPr name="Freeform 16" id="16"/>
            <p:cNvSpPr/>
            <p:nvPr/>
          </p:nvSpPr>
          <p:spPr>
            <a:xfrm flipH="false" flipV="false" rot="0">
              <a:off x="0" y="0"/>
              <a:ext cx="6350000" cy="3583282"/>
            </a:xfrm>
            <a:custGeom>
              <a:avLst/>
              <a:gdLst/>
              <a:ahLst/>
              <a:cxnLst/>
              <a:rect r="r" b="b" t="t" l="l"/>
              <a:pathLst>
                <a:path h="3583282" w="6350000">
                  <a:moveTo>
                    <a:pt x="6350000" y="3583282"/>
                  </a:moveTo>
                  <a:lnTo>
                    <a:pt x="0" y="3583282"/>
                  </a:lnTo>
                  <a:lnTo>
                    <a:pt x="0" y="0"/>
                  </a:lnTo>
                  <a:lnTo>
                    <a:pt x="6350000" y="3583282"/>
                  </a:lnTo>
                  <a:close/>
                </a:path>
              </a:pathLst>
            </a:custGeom>
            <a:solidFill>
              <a:srgbClr val="1E1D1D"/>
            </a:solid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DAHL4fRlBjE</dc:identifier>
  <dcterms:modified xsi:type="dcterms:W3CDTF">2011-08-01T06:04:30Z</dcterms:modified>
  <cp:revision>1</cp:revision>
  <dc:title>Đỏ và Đen Khối đường chéo Thang máy Bản thuyết trình Bản quảng cáo chiêu hàng</dc:title>
</cp:coreProperties>
</file>